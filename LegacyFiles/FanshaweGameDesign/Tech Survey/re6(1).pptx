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6.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9.jpg"/><Relationship Id="rId4" Type="http://schemas.openxmlformats.org/officeDocument/2006/relationships/image" Target="../media/image3.jpg"/><Relationship Id="rId5"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9.jpg"/><Relationship Id="rId4" Type="http://schemas.openxmlformats.org/officeDocument/2006/relationships/image" Target="../media/image12.jpg"/><Relationship Id="rId5" Type="http://schemas.openxmlformats.org/officeDocument/2006/relationships/image" Target="../media/image14.jpg"/><Relationship Id="rId6" Type="http://schemas.openxmlformats.org/officeDocument/2006/relationships/image" Target="../media/image13.jpg"/><Relationship Id="rId7"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9.jpg"/><Relationship Id="rId4" Type="http://schemas.openxmlformats.org/officeDocument/2006/relationships/image" Target="../media/image6.jpg"/><Relationship Id="rId9" Type="http://schemas.openxmlformats.org/officeDocument/2006/relationships/image" Target="../media/image10.jpg"/><Relationship Id="rId5" Type="http://schemas.openxmlformats.org/officeDocument/2006/relationships/image" Target="../media/image7.png"/><Relationship Id="rId6" Type="http://schemas.openxmlformats.org/officeDocument/2006/relationships/image" Target="../media/image31.jpg"/><Relationship Id="rId7" Type="http://schemas.openxmlformats.org/officeDocument/2006/relationships/image" Target="../media/image11.jpg"/><Relationship Id="rId8" Type="http://schemas.openxmlformats.org/officeDocument/2006/relationships/image" Target="../media/image15.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9.jpg"/><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9.jpg"/><Relationship Id="rId4" Type="http://schemas.openxmlformats.org/officeDocument/2006/relationships/image" Target="../media/image32.png"/><Relationship Id="rId11" Type="http://schemas.openxmlformats.org/officeDocument/2006/relationships/image" Target="../media/image18.jpg"/><Relationship Id="rId10" Type="http://schemas.openxmlformats.org/officeDocument/2006/relationships/image" Target="../media/image28.jpg"/><Relationship Id="rId9" Type="http://schemas.openxmlformats.org/officeDocument/2006/relationships/image" Target="../media/image23.jpg"/><Relationship Id="rId5" Type="http://schemas.openxmlformats.org/officeDocument/2006/relationships/image" Target="../media/image19.jpg"/><Relationship Id="rId6" Type="http://schemas.openxmlformats.org/officeDocument/2006/relationships/image" Target="../media/image21.jpg"/><Relationship Id="rId7" Type="http://schemas.openxmlformats.org/officeDocument/2006/relationships/image" Target="../media/image25.jpg"/><Relationship Id="rId8" Type="http://schemas.openxmlformats.org/officeDocument/2006/relationships/image" Target="../media/image2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9.jpg"/><Relationship Id="rId4"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9.jpg"/><Relationship Id="rId4" Type="http://schemas.openxmlformats.org/officeDocument/2006/relationships/image" Target="../media/image32.png"/><Relationship Id="rId11" Type="http://schemas.openxmlformats.org/officeDocument/2006/relationships/image" Target="../media/image18.jpg"/><Relationship Id="rId10" Type="http://schemas.openxmlformats.org/officeDocument/2006/relationships/image" Target="../media/image28.jpg"/><Relationship Id="rId9" Type="http://schemas.openxmlformats.org/officeDocument/2006/relationships/image" Target="../media/image23.jpg"/><Relationship Id="rId5" Type="http://schemas.openxmlformats.org/officeDocument/2006/relationships/image" Target="../media/image19.jpg"/><Relationship Id="rId6" Type="http://schemas.openxmlformats.org/officeDocument/2006/relationships/image" Target="../media/image21.jpg"/><Relationship Id="rId7" Type="http://schemas.openxmlformats.org/officeDocument/2006/relationships/image" Target="../media/image25.jpg"/><Relationship Id="rId8"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9.jpg"/><Relationship Id="rId4" Type="http://schemas.openxmlformats.org/officeDocument/2006/relationships/image" Target="../media/image32.png"/><Relationship Id="rId11" Type="http://schemas.openxmlformats.org/officeDocument/2006/relationships/image" Target="../media/image18.jpg"/><Relationship Id="rId10" Type="http://schemas.openxmlformats.org/officeDocument/2006/relationships/image" Target="../media/image28.jpg"/><Relationship Id="rId9" Type="http://schemas.openxmlformats.org/officeDocument/2006/relationships/image" Target="../media/image23.jpg"/><Relationship Id="rId5" Type="http://schemas.openxmlformats.org/officeDocument/2006/relationships/image" Target="../media/image19.jpg"/><Relationship Id="rId6" Type="http://schemas.openxmlformats.org/officeDocument/2006/relationships/image" Target="../media/image21.jpg"/><Relationship Id="rId7" Type="http://schemas.openxmlformats.org/officeDocument/2006/relationships/image" Target="../media/image25.jpg"/><Relationship Id="rId8"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b="0" l="0" r="0" t="0"/>
          <a:stretch/>
        </p:blipFill>
        <p:spPr>
          <a:xfrm>
            <a:off x="-2503714" y="-38100"/>
            <a:ext cx="14695714" cy="6858000"/>
          </a:xfrm>
          <a:prstGeom prst="rect">
            <a:avLst/>
          </a:prstGeom>
          <a:noFill/>
          <a:ln>
            <a:noFill/>
          </a:ln>
        </p:spPr>
      </p:pic>
      <p:sp>
        <p:nvSpPr>
          <p:cNvPr id="85" name="Google Shape;85;p13"/>
          <p:cNvSpPr txBox="1"/>
          <p:nvPr>
            <p:ph type="ctrTitle"/>
          </p:nvPr>
        </p:nvSpPr>
        <p:spPr>
          <a:xfrm>
            <a:off x="552451" y="3653631"/>
            <a:ext cx="4895850" cy="2119313"/>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000"/>
              <a:buFont typeface="Arial"/>
              <a:buNone/>
            </a:pPr>
            <a:r>
              <a:rPr lang="en-US" sz="4000">
                <a:solidFill>
                  <a:schemeClr val="lt1"/>
                </a:solidFill>
                <a:latin typeface="Arial"/>
                <a:ea typeface="Arial"/>
                <a:cs typeface="Arial"/>
                <a:sym typeface="Arial"/>
              </a:rPr>
              <a:t>The Game That Pushed The Series In A Bold New Direction</a:t>
            </a:r>
            <a:endParaRPr sz="4000">
              <a:solidFill>
                <a:schemeClr val="lt1"/>
              </a:solidFill>
              <a:latin typeface="Arial"/>
              <a:ea typeface="Arial"/>
              <a:cs typeface="Arial"/>
              <a:sym typeface="Arial"/>
            </a:endParaRPr>
          </a:p>
        </p:txBody>
      </p:sp>
      <p:pic>
        <p:nvPicPr>
          <p:cNvPr descr="Image result for resident evil 4 logo png" id="86" name="Google Shape;86;p13"/>
          <p:cNvPicPr preferRelativeResize="0"/>
          <p:nvPr/>
        </p:nvPicPr>
        <p:blipFill rotWithShape="1">
          <a:blip r:embed="rId4">
            <a:alphaModFix/>
          </a:blip>
          <a:srcRect b="0" l="0" r="0" t="0"/>
          <a:stretch/>
        </p:blipFill>
        <p:spPr>
          <a:xfrm>
            <a:off x="-840400" y="334000"/>
            <a:ext cx="4946650" cy="230019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4"/>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92" name="Google Shape;92;p14"/>
          <p:cNvSpPr txBox="1"/>
          <p:nvPr>
            <p:ph type="title"/>
          </p:nvPr>
        </p:nvSpPr>
        <p:spPr>
          <a:xfrm>
            <a:off x="200025" y="-104457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4400"/>
              <a:buFont typeface="Calibri"/>
              <a:buNone/>
            </a:pPr>
            <a:r>
              <a:rPr lang="en-US">
                <a:solidFill>
                  <a:srgbClr val="FFFF00"/>
                </a:solidFill>
              </a:rPr>
              <a:t>Introduction</a:t>
            </a:r>
            <a:endParaRPr>
              <a:solidFill>
                <a:srgbClr val="FFFF00"/>
              </a:solidFill>
            </a:endParaRPr>
          </a:p>
        </p:txBody>
      </p:sp>
      <p:sp>
        <p:nvSpPr>
          <p:cNvPr id="93" name="Google Shape;93;p14"/>
          <p:cNvSpPr txBox="1"/>
          <p:nvPr/>
        </p:nvSpPr>
        <p:spPr>
          <a:xfrm>
            <a:off x="104775" y="280988"/>
            <a:ext cx="9401175" cy="4900613"/>
          </a:xfrm>
          <a:prstGeom prst="rect">
            <a:avLst/>
          </a:prstGeom>
          <a:noFill/>
          <a:ln>
            <a:noFill/>
          </a:ln>
        </p:spPr>
        <p:txBody>
          <a:bodyPr anchorCtr="0" anchor="t" bIns="45700" lIns="91425" spcFirstLastPara="1" rIns="91425" wrap="square" tIns="45700">
            <a:noAutofit/>
          </a:bodyPr>
          <a:lstStyle/>
          <a:p>
            <a:pPr indent="-228600" lvl="0" marL="228600" marR="0" rtl="0" algn="l">
              <a:lnSpc>
                <a:spcPct val="70000"/>
              </a:lnSpc>
              <a:spcBef>
                <a:spcPts val="0"/>
              </a:spcBef>
              <a:spcAft>
                <a:spcPts val="0"/>
              </a:spcAft>
              <a:buClr>
                <a:srgbClr val="EAE646"/>
              </a:buClr>
              <a:buSzPts val="2380"/>
              <a:buFont typeface="Arial"/>
              <a:buChar char="•"/>
            </a:pPr>
            <a:r>
              <a:rPr b="0" i="0" lang="en-US" sz="2380" u="none" cap="none" strike="noStrike">
                <a:solidFill>
                  <a:srgbClr val="EAE646"/>
                </a:solidFill>
                <a:latin typeface="Calibri"/>
                <a:ea typeface="Calibri"/>
                <a:cs typeface="Calibri"/>
                <a:sym typeface="Calibri"/>
              </a:rPr>
              <a:t>RE4 is a survival-horror game developed by Capcom and released on January 11, 2005 as a timed exclusive for the GameCube console.</a:t>
            </a:r>
            <a:endParaRPr b="0" i="0" sz="1400" u="none" cap="none" strike="noStrike">
              <a:solidFill>
                <a:srgbClr val="000000"/>
              </a:solidFill>
              <a:latin typeface="Arial"/>
              <a:ea typeface="Arial"/>
              <a:cs typeface="Arial"/>
              <a:sym typeface="Arial"/>
            </a:endParaRPr>
          </a:p>
          <a:p>
            <a:pPr indent="-77470" lvl="0" marL="228600" marR="0" rtl="0" algn="l">
              <a:lnSpc>
                <a:spcPct val="70000"/>
              </a:lnSpc>
              <a:spcBef>
                <a:spcPts val="1000"/>
              </a:spcBef>
              <a:spcAft>
                <a:spcPts val="0"/>
              </a:spcAft>
              <a:buClr>
                <a:schemeClr val="dk1"/>
              </a:buClr>
              <a:buSzPts val="2380"/>
              <a:buFont typeface="Arial"/>
              <a:buNone/>
            </a:pPr>
            <a:r>
              <a:t/>
            </a:r>
            <a:endParaRPr b="0" i="0" sz="2380" u="none" cap="none" strike="noStrike">
              <a:solidFill>
                <a:srgbClr val="EAE646"/>
              </a:solidFill>
              <a:latin typeface="Calibri"/>
              <a:ea typeface="Calibri"/>
              <a:cs typeface="Calibri"/>
              <a:sym typeface="Calibri"/>
            </a:endParaRPr>
          </a:p>
          <a:p>
            <a:pPr indent="-228600" lvl="0" marL="228600" marR="0" rtl="0" algn="l">
              <a:lnSpc>
                <a:spcPct val="70000"/>
              </a:lnSpc>
              <a:spcBef>
                <a:spcPts val="1000"/>
              </a:spcBef>
              <a:spcAft>
                <a:spcPts val="0"/>
              </a:spcAft>
              <a:buClr>
                <a:srgbClr val="EAE646"/>
              </a:buClr>
              <a:buSzPts val="2380"/>
              <a:buFont typeface="Arial"/>
              <a:buChar char="•"/>
            </a:pPr>
            <a:r>
              <a:rPr b="0" i="0" lang="en-US" sz="2380" u="none" cap="none" strike="noStrike">
                <a:solidFill>
                  <a:srgbClr val="EAE646"/>
                </a:solidFill>
                <a:latin typeface="Calibri"/>
                <a:ea typeface="Calibri"/>
                <a:cs typeface="Calibri"/>
                <a:sym typeface="Calibri"/>
              </a:rPr>
              <a:t>Development was directed by series creator Shinji Mikami.</a:t>
            </a:r>
            <a:endParaRPr b="0" i="0" sz="1400" u="none" cap="none" strike="noStrike">
              <a:solidFill>
                <a:srgbClr val="000000"/>
              </a:solidFill>
              <a:latin typeface="Arial"/>
              <a:ea typeface="Arial"/>
              <a:cs typeface="Arial"/>
              <a:sym typeface="Arial"/>
            </a:endParaRPr>
          </a:p>
          <a:p>
            <a:pPr indent="-77470" lvl="0" marL="228600" marR="0" rtl="0" algn="l">
              <a:lnSpc>
                <a:spcPct val="70000"/>
              </a:lnSpc>
              <a:spcBef>
                <a:spcPts val="1000"/>
              </a:spcBef>
              <a:spcAft>
                <a:spcPts val="0"/>
              </a:spcAft>
              <a:buClr>
                <a:schemeClr val="dk1"/>
              </a:buClr>
              <a:buSzPts val="2380"/>
              <a:buFont typeface="Arial"/>
              <a:buNone/>
            </a:pPr>
            <a:r>
              <a:t/>
            </a:r>
            <a:endParaRPr b="0" i="0" sz="2380" u="none" cap="none" strike="noStrike">
              <a:solidFill>
                <a:srgbClr val="EAE646"/>
              </a:solidFill>
              <a:latin typeface="Calibri"/>
              <a:ea typeface="Calibri"/>
              <a:cs typeface="Calibri"/>
              <a:sym typeface="Calibri"/>
            </a:endParaRPr>
          </a:p>
          <a:p>
            <a:pPr indent="-228600" lvl="0" marL="228600" marR="0" rtl="0" algn="l">
              <a:lnSpc>
                <a:spcPct val="70000"/>
              </a:lnSpc>
              <a:spcBef>
                <a:spcPts val="1000"/>
              </a:spcBef>
              <a:spcAft>
                <a:spcPts val="0"/>
              </a:spcAft>
              <a:buClr>
                <a:srgbClr val="EAE646"/>
              </a:buClr>
              <a:buSzPts val="2380"/>
              <a:buFont typeface="Arial"/>
              <a:buChar char="•"/>
            </a:pPr>
            <a:r>
              <a:rPr b="0" i="0" lang="en-US" sz="2380" u="none" cap="none" strike="noStrike">
                <a:solidFill>
                  <a:srgbClr val="EAE646"/>
                </a:solidFill>
                <a:latin typeface="Calibri"/>
                <a:ea typeface="Calibri"/>
                <a:cs typeface="Calibri"/>
                <a:sym typeface="Calibri"/>
              </a:rPr>
              <a:t>RE4 went through a rough development cycle where 4 different versions were propsed (one of which became the prototype for the Devil May Cry Series)</a:t>
            </a:r>
            <a:endParaRPr b="0" i="0" sz="1400" u="none" cap="none" strike="noStrike">
              <a:solidFill>
                <a:srgbClr val="000000"/>
              </a:solidFill>
              <a:latin typeface="Arial"/>
              <a:ea typeface="Arial"/>
              <a:cs typeface="Arial"/>
              <a:sym typeface="Arial"/>
            </a:endParaRPr>
          </a:p>
          <a:p>
            <a:pPr indent="-77470" lvl="0" marL="228600" marR="0" rtl="0" algn="l">
              <a:lnSpc>
                <a:spcPct val="70000"/>
              </a:lnSpc>
              <a:spcBef>
                <a:spcPts val="1000"/>
              </a:spcBef>
              <a:spcAft>
                <a:spcPts val="0"/>
              </a:spcAft>
              <a:buClr>
                <a:schemeClr val="dk1"/>
              </a:buClr>
              <a:buSzPts val="2380"/>
              <a:buFont typeface="Arial"/>
              <a:buNone/>
            </a:pPr>
            <a:r>
              <a:t/>
            </a:r>
            <a:endParaRPr b="0" i="0" sz="2380" u="none" cap="none" strike="noStrike">
              <a:solidFill>
                <a:srgbClr val="EAE646"/>
              </a:solidFill>
              <a:latin typeface="Calibri"/>
              <a:ea typeface="Calibri"/>
              <a:cs typeface="Calibri"/>
              <a:sym typeface="Calibri"/>
            </a:endParaRPr>
          </a:p>
          <a:p>
            <a:pPr indent="-228600" lvl="0" marL="228600" marR="0" rtl="0" algn="l">
              <a:lnSpc>
                <a:spcPct val="70000"/>
              </a:lnSpc>
              <a:spcBef>
                <a:spcPts val="1000"/>
              </a:spcBef>
              <a:spcAft>
                <a:spcPts val="0"/>
              </a:spcAft>
              <a:buClr>
                <a:srgbClr val="EAE646"/>
              </a:buClr>
              <a:buSzPts val="2380"/>
              <a:buFont typeface="Arial"/>
              <a:buChar char="•"/>
            </a:pPr>
            <a:r>
              <a:rPr b="0" i="0" lang="en-US" sz="2380" u="none" cap="none" strike="noStrike">
                <a:solidFill>
                  <a:srgbClr val="EAE646"/>
                </a:solidFill>
                <a:latin typeface="Calibri"/>
                <a:ea typeface="Calibri"/>
                <a:cs typeface="Calibri"/>
                <a:sym typeface="Calibri"/>
              </a:rPr>
              <a:t>The game was released on 12 different platforms and has sold a total of 8 million copies worldwide. </a:t>
            </a:r>
            <a:endParaRPr b="0" i="0" sz="1400" u="none" cap="none" strike="noStrike">
              <a:solidFill>
                <a:srgbClr val="000000"/>
              </a:solidFill>
              <a:latin typeface="Arial"/>
              <a:ea typeface="Arial"/>
              <a:cs typeface="Arial"/>
              <a:sym typeface="Arial"/>
            </a:endParaRPr>
          </a:p>
          <a:p>
            <a:pPr indent="-77470" lvl="0" marL="228600" marR="0" rtl="0" algn="l">
              <a:lnSpc>
                <a:spcPct val="70000"/>
              </a:lnSpc>
              <a:spcBef>
                <a:spcPts val="1000"/>
              </a:spcBef>
              <a:spcAft>
                <a:spcPts val="0"/>
              </a:spcAft>
              <a:buClr>
                <a:schemeClr val="dk1"/>
              </a:buClr>
              <a:buSzPts val="2380"/>
              <a:buFont typeface="Arial"/>
              <a:buNone/>
            </a:pPr>
            <a:r>
              <a:t/>
            </a:r>
            <a:endParaRPr b="0" i="0" sz="2380" u="none" cap="none" strike="noStrike">
              <a:solidFill>
                <a:srgbClr val="EAE646"/>
              </a:solidFill>
              <a:latin typeface="Calibri"/>
              <a:ea typeface="Calibri"/>
              <a:cs typeface="Calibri"/>
              <a:sym typeface="Calibri"/>
            </a:endParaRPr>
          </a:p>
          <a:p>
            <a:pPr indent="-228600" lvl="0" marL="228600" marR="0" rtl="0" algn="l">
              <a:lnSpc>
                <a:spcPct val="70000"/>
              </a:lnSpc>
              <a:spcBef>
                <a:spcPts val="1000"/>
              </a:spcBef>
              <a:spcAft>
                <a:spcPts val="0"/>
              </a:spcAft>
              <a:buClr>
                <a:srgbClr val="EAE646"/>
              </a:buClr>
              <a:buSzPts val="2380"/>
              <a:buFont typeface="Arial"/>
              <a:buChar char="•"/>
            </a:pPr>
            <a:r>
              <a:rPr b="0" i="0" lang="en-US" sz="2380" u="none" cap="none" strike="noStrike">
                <a:solidFill>
                  <a:srgbClr val="EAE646"/>
                </a:solidFill>
                <a:latin typeface="Calibri"/>
                <a:ea typeface="Calibri"/>
                <a:cs typeface="Calibri"/>
                <a:sym typeface="Calibri"/>
              </a:rPr>
              <a:t>Won numerous Game of the Year awards upon release and is widely regarded by many as the single greatest third-person shooter of all time.</a:t>
            </a:r>
            <a:endParaRPr b="0" i="0" sz="2380" u="none" cap="none" strike="noStrike">
              <a:solidFill>
                <a:srgbClr val="EAE646"/>
              </a:solidFill>
              <a:latin typeface="Calibri"/>
              <a:ea typeface="Calibri"/>
              <a:cs typeface="Calibri"/>
              <a:sym typeface="Calibri"/>
            </a:endParaRPr>
          </a:p>
        </p:txBody>
      </p:sp>
      <p:pic>
        <p:nvPicPr>
          <p:cNvPr descr="Image result for resident evil 4 gamecube cover" id="94" name="Google Shape;94;p14"/>
          <p:cNvPicPr preferRelativeResize="0"/>
          <p:nvPr/>
        </p:nvPicPr>
        <p:blipFill rotWithShape="1">
          <a:blip r:embed="rId4">
            <a:alphaModFix/>
          </a:blip>
          <a:srcRect b="0" l="0" r="0" t="0"/>
          <a:stretch/>
        </p:blipFill>
        <p:spPr>
          <a:xfrm>
            <a:off x="9545525" y="-1044575"/>
            <a:ext cx="2340199" cy="3235325"/>
          </a:xfrm>
          <a:prstGeom prst="rect">
            <a:avLst/>
          </a:prstGeom>
          <a:noFill/>
          <a:ln>
            <a:noFill/>
          </a:ln>
        </p:spPr>
      </p:pic>
      <p:pic>
        <p:nvPicPr>
          <p:cNvPr descr="Shinji Mikami April 2013 3.jpg" id="95" name="Google Shape;95;p14"/>
          <p:cNvPicPr preferRelativeResize="0"/>
          <p:nvPr/>
        </p:nvPicPr>
        <p:blipFill rotWithShape="1">
          <a:blip r:embed="rId5">
            <a:alphaModFix/>
          </a:blip>
          <a:srcRect b="0" l="0" r="0" t="0"/>
          <a:stretch/>
        </p:blipFill>
        <p:spPr>
          <a:xfrm>
            <a:off x="9533486" y="2338140"/>
            <a:ext cx="2364275" cy="3235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a:t>
            </a:r>
            <a:endParaRPr>
              <a:solidFill>
                <a:schemeClr val="lt1"/>
              </a:solidFill>
            </a:endParaRPr>
          </a:p>
        </p:txBody>
      </p:sp>
      <p:pic>
        <p:nvPicPr>
          <p:cNvPr descr="Image result for resident evil wallpaper" id="101" name="Google Shape;101;p15"/>
          <p:cNvPicPr preferRelativeResize="0"/>
          <p:nvPr/>
        </p:nvPicPr>
        <p:blipFill rotWithShape="1">
          <a:blip r:embed="rId3">
            <a:alphaModFix/>
          </a:blip>
          <a:srcRect b="0" l="0" r="0" t="0"/>
          <a:stretch/>
        </p:blipFill>
        <p:spPr>
          <a:xfrm>
            <a:off x="0" y="1"/>
            <a:ext cx="12192000" cy="7620000"/>
          </a:xfrm>
          <a:prstGeom prst="rect">
            <a:avLst/>
          </a:prstGeom>
          <a:noFill/>
          <a:ln>
            <a:noFill/>
          </a:ln>
        </p:spPr>
      </p:pic>
      <p:sp>
        <p:nvSpPr>
          <p:cNvPr id="102" name="Google Shape;102;p15"/>
          <p:cNvSpPr txBox="1"/>
          <p:nvPr/>
        </p:nvSpPr>
        <p:spPr>
          <a:xfrm>
            <a:off x="990600" y="3959225"/>
            <a:ext cx="10515600" cy="18192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Arial"/>
              <a:buNone/>
            </a:pPr>
            <a:r>
              <a:rPr b="0" i="0" lang="en-US" sz="2800" u="none" cap="none" strike="noStrike">
                <a:solidFill>
                  <a:schemeClr val="lt1"/>
                </a:solidFill>
                <a:latin typeface="Calibri"/>
                <a:ea typeface="Calibri"/>
                <a:cs typeface="Calibri"/>
                <a:sym typeface="Calibri"/>
              </a:rPr>
              <a:t>Resident Evil 4 pushed the series in a new direction by changing the camera, reinventing the enemies, and putting an emphasis on action over problem solving.</a:t>
            </a:r>
            <a:endParaRPr b="0" i="0" sz="28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descr="Image result for resident evil 4" id="107" name="Google Shape;10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8" name="Google Shape;10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Argument 1: The Camera</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17"/>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14" name="Google Shape;114;p17"/>
          <p:cNvSpPr txBox="1"/>
          <p:nvPr>
            <p:ph type="title"/>
          </p:nvPr>
        </p:nvSpPr>
        <p:spPr>
          <a:xfrm>
            <a:off x="314324" y="-768350"/>
            <a:ext cx="8158229"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1.1 - Switching form Pre-rendered Backgrounds</a:t>
            </a:r>
            <a:endParaRPr sz="3200">
              <a:solidFill>
                <a:srgbClr val="FFFF00"/>
              </a:solidFill>
            </a:endParaRPr>
          </a:p>
        </p:txBody>
      </p:sp>
      <p:sp>
        <p:nvSpPr>
          <p:cNvPr id="115" name="Google Shape;115;p17"/>
          <p:cNvSpPr txBox="1"/>
          <p:nvPr>
            <p:ph idx="1" type="body"/>
          </p:nvPr>
        </p:nvSpPr>
        <p:spPr>
          <a:xfrm>
            <a:off x="200025" y="557213"/>
            <a:ext cx="8610600" cy="4691062"/>
          </a:xfrm>
          <a:prstGeom prst="rect">
            <a:avLst/>
          </a:prstGeom>
          <a:noFill/>
          <a:ln>
            <a:noFill/>
          </a:ln>
        </p:spPr>
        <p:txBody>
          <a:bodyPr anchorCtr="0" anchor="t" bIns="45700" lIns="91425" spcFirstLastPara="1" rIns="91425" wrap="square" tIns="45700">
            <a:noAutofit/>
          </a:bodyPr>
          <a:lstStyle/>
          <a:p>
            <a:pPr indent="-228600" lvl="0" marL="228600" rtl="0" algn="l">
              <a:lnSpc>
                <a:spcPct val="70000"/>
              </a:lnSpc>
              <a:spcBef>
                <a:spcPts val="0"/>
              </a:spcBef>
              <a:spcAft>
                <a:spcPts val="0"/>
              </a:spcAft>
              <a:buClr>
                <a:srgbClr val="FFFF00"/>
              </a:buClr>
              <a:buSzPts val="2170"/>
              <a:buChar char="•"/>
            </a:pPr>
            <a:r>
              <a:rPr lang="en-US" sz="2170">
                <a:solidFill>
                  <a:srgbClr val="FFFF00"/>
                </a:solidFill>
              </a:rPr>
              <a:t>Due to the hardware limitations of the 5</a:t>
            </a:r>
            <a:r>
              <a:rPr baseline="30000" lang="en-US" sz="2170">
                <a:solidFill>
                  <a:srgbClr val="FFFF00"/>
                </a:solidFill>
              </a:rPr>
              <a:t>th</a:t>
            </a:r>
            <a:r>
              <a:rPr lang="en-US" sz="2170">
                <a:solidFill>
                  <a:srgbClr val="FFFF00"/>
                </a:solidFill>
              </a:rPr>
              <a:t> gen consoles, games could not render highly detailed environments in real-time 3D.  </a:t>
            </a:r>
            <a:endParaRPr sz="2170">
              <a:solidFill>
                <a:srgbClr val="FFFF00"/>
              </a:solidFill>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0" marL="228600" rtl="0" algn="l">
              <a:lnSpc>
                <a:spcPct val="70000"/>
              </a:lnSpc>
              <a:spcBef>
                <a:spcPts val="1000"/>
              </a:spcBef>
              <a:spcAft>
                <a:spcPts val="0"/>
              </a:spcAft>
              <a:buClr>
                <a:srgbClr val="FFFF00"/>
              </a:buClr>
              <a:buSzPts val="2170"/>
              <a:buChar char="•"/>
            </a:pPr>
            <a:r>
              <a:rPr lang="en-US" sz="2170">
                <a:solidFill>
                  <a:srgbClr val="FFFF00"/>
                </a:solidFill>
              </a:rPr>
              <a:t>To fix this issue, many developers opted to use pre-rendered backgrounds. Level designers would paste rendered images of a 3D Scene from multiple fixed camera angles. They would then render the game characters and key items in front of the background in real time.</a:t>
            </a:r>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0" marL="228600" rtl="0" algn="l">
              <a:lnSpc>
                <a:spcPct val="70000"/>
              </a:lnSpc>
              <a:spcBef>
                <a:spcPts val="1000"/>
              </a:spcBef>
              <a:spcAft>
                <a:spcPts val="0"/>
              </a:spcAft>
              <a:buClr>
                <a:srgbClr val="FFFF00"/>
              </a:buClr>
              <a:buSzPts val="2170"/>
              <a:buChar char="•"/>
            </a:pPr>
            <a:r>
              <a:rPr lang="en-US" sz="2170">
                <a:solidFill>
                  <a:srgbClr val="FFFF00"/>
                </a:solidFill>
              </a:rPr>
              <a:t>Collider objects would be programmed on top of items in the scene so that players could not pass through them. The camera angle would change to a different pre-rendered perspective based off of the player’s position. </a:t>
            </a:r>
            <a:endParaRPr sz="2170">
              <a:solidFill>
                <a:srgbClr val="FFFF00"/>
              </a:solidFill>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0" marL="228600" rtl="0" algn="l">
              <a:lnSpc>
                <a:spcPct val="70000"/>
              </a:lnSpc>
              <a:spcBef>
                <a:spcPts val="1000"/>
              </a:spcBef>
              <a:spcAft>
                <a:spcPts val="0"/>
              </a:spcAft>
              <a:buClr>
                <a:srgbClr val="FFFF00"/>
              </a:buClr>
              <a:buSzPts val="2170"/>
              <a:buChar char="•"/>
            </a:pPr>
            <a:r>
              <a:rPr lang="en-US" sz="2170">
                <a:solidFill>
                  <a:srgbClr val="FFFF00"/>
                </a:solidFill>
              </a:rPr>
              <a:t>Because of this, the camera would always stay still. The original Resident Evil game did not have a single in-game moment where the camera moved. </a:t>
            </a:r>
            <a:endParaRPr/>
          </a:p>
          <a:p>
            <a:pPr indent="0" lvl="0" marL="0" rtl="0" algn="l">
              <a:lnSpc>
                <a:spcPct val="70000"/>
              </a:lnSpc>
              <a:spcBef>
                <a:spcPts val="1000"/>
              </a:spcBef>
              <a:spcAft>
                <a:spcPts val="0"/>
              </a:spcAft>
              <a:buClr>
                <a:schemeClr val="dk1"/>
              </a:buClr>
              <a:buSzPts val="2170"/>
              <a:buNone/>
            </a:pPr>
            <a:r>
              <a:t/>
            </a:r>
            <a:endParaRPr sz="2170">
              <a:solidFill>
                <a:srgbClr val="FFFF00"/>
              </a:solidFill>
            </a:endParaRPr>
          </a:p>
        </p:txBody>
      </p:sp>
      <p:pic>
        <p:nvPicPr>
          <p:cNvPr descr="Image result for pre rendered backgrounds" id="116" name="Google Shape;116;p17"/>
          <p:cNvPicPr preferRelativeResize="0"/>
          <p:nvPr/>
        </p:nvPicPr>
        <p:blipFill rotWithShape="1">
          <a:blip r:embed="rId4">
            <a:alphaModFix/>
          </a:blip>
          <a:srcRect b="0" l="0" r="0" t="0"/>
          <a:stretch/>
        </p:blipFill>
        <p:spPr>
          <a:xfrm>
            <a:off x="8894232" y="890699"/>
            <a:ext cx="2878667" cy="1738063"/>
          </a:xfrm>
          <a:prstGeom prst="rect">
            <a:avLst/>
          </a:prstGeom>
          <a:noFill/>
          <a:ln>
            <a:noFill/>
          </a:ln>
        </p:spPr>
      </p:pic>
      <p:pic>
        <p:nvPicPr>
          <p:cNvPr descr="Related image" id="117" name="Google Shape;117;p17"/>
          <p:cNvPicPr preferRelativeResize="0"/>
          <p:nvPr/>
        </p:nvPicPr>
        <p:blipFill rotWithShape="1">
          <a:blip r:embed="rId5">
            <a:alphaModFix/>
          </a:blip>
          <a:srcRect b="0" l="0" r="0" t="0"/>
          <a:stretch/>
        </p:blipFill>
        <p:spPr>
          <a:xfrm>
            <a:off x="8894232" y="-997212"/>
            <a:ext cx="2876090" cy="1617801"/>
          </a:xfrm>
          <a:prstGeom prst="rect">
            <a:avLst/>
          </a:prstGeom>
          <a:noFill/>
          <a:ln>
            <a:noFill/>
          </a:ln>
        </p:spPr>
      </p:pic>
      <p:pic>
        <p:nvPicPr>
          <p:cNvPr descr="Related image" id="118" name="Google Shape;118;p17"/>
          <p:cNvPicPr preferRelativeResize="0"/>
          <p:nvPr/>
        </p:nvPicPr>
        <p:blipFill rotWithShape="1">
          <a:blip r:embed="rId6">
            <a:alphaModFix/>
          </a:blip>
          <a:srcRect b="0" l="0" r="0" t="0"/>
          <a:stretch/>
        </p:blipFill>
        <p:spPr>
          <a:xfrm>
            <a:off x="8963025" y="4643438"/>
            <a:ext cx="2762250" cy="2073761"/>
          </a:xfrm>
          <a:prstGeom prst="rect">
            <a:avLst/>
          </a:prstGeom>
          <a:noFill/>
          <a:ln>
            <a:noFill/>
          </a:ln>
        </p:spPr>
      </p:pic>
      <p:pic>
        <p:nvPicPr>
          <p:cNvPr descr="Image result for pre rendered backgrounds" id="119" name="Google Shape;119;p17"/>
          <p:cNvPicPr preferRelativeResize="0"/>
          <p:nvPr/>
        </p:nvPicPr>
        <p:blipFill rotWithShape="1">
          <a:blip r:embed="rId7">
            <a:alphaModFix/>
          </a:blip>
          <a:srcRect b="0" l="0" r="0" t="0"/>
          <a:stretch/>
        </p:blipFill>
        <p:spPr>
          <a:xfrm>
            <a:off x="8894233" y="2796677"/>
            <a:ext cx="2878667" cy="1619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18"/>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25" name="Google Shape;125;p18"/>
          <p:cNvSpPr txBox="1"/>
          <p:nvPr>
            <p:ph type="title"/>
          </p:nvPr>
        </p:nvSpPr>
        <p:spPr>
          <a:xfrm>
            <a:off x="314325" y="-768350"/>
            <a:ext cx="721995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1.2 - The Move To Real-time Rendering</a:t>
            </a:r>
            <a:endParaRPr sz="3200">
              <a:solidFill>
                <a:srgbClr val="FFFF00"/>
              </a:solidFill>
            </a:endParaRPr>
          </a:p>
        </p:txBody>
      </p:sp>
      <p:sp>
        <p:nvSpPr>
          <p:cNvPr id="126" name="Google Shape;126;p18"/>
          <p:cNvSpPr txBox="1"/>
          <p:nvPr>
            <p:ph idx="1" type="body"/>
          </p:nvPr>
        </p:nvSpPr>
        <p:spPr>
          <a:xfrm>
            <a:off x="200025" y="557213"/>
            <a:ext cx="8610600" cy="4691062"/>
          </a:xfrm>
          <a:prstGeom prst="rect">
            <a:avLst/>
          </a:prstGeom>
          <a:noFill/>
          <a:ln>
            <a:noFill/>
          </a:ln>
        </p:spPr>
        <p:txBody>
          <a:bodyPr anchorCtr="0" anchor="t" bIns="45700" lIns="91425" spcFirstLastPara="1" rIns="91425" wrap="square" tIns="45700">
            <a:noAutofit/>
          </a:bodyPr>
          <a:lstStyle/>
          <a:p>
            <a:pPr indent="-228600" lvl="0" marL="228600" rtl="0" algn="l">
              <a:lnSpc>
                <a:spcPct val="70000"/>
              </a:lnSpc>
              <a:spcBef>
                <a:spcPts val="0"/>
              </a:spcBef>
              <a:spcAft>
                <a:spcPts val="0"/>
              </a:spcAft>
              <a:buClr>
                <a:srgbClr val="FFFF00"/>
              </a:buClr>
              <a:buSzPts val="1960"/>
              <a:buChar char="•"/>
            </a:pPr>
            <a:r>
              <a:rPr lang="en-US" sz="1960">
                <a:solidFill>
                  <a:srgbClr val="FFFF00"/>
                </a:solidFill>
              </a:rPr>
              <a:t>With the move to the ATI powered GameCube console, Capcom no longer needed to use pre-rendered backgrounds. The GC hardware was powerful enough to render entire levels in real time.</a:t>
            </a:r>
            <a:endParaRPr/>
          </a:p>
          <a:p>
            <a:pPr indent="-104140" lvl="0" marL="228600" rtl="0" algn="l">
              <a:lnSpc>
                <a:spcPct val="70000"/>
              </a:lnSpc>
              <a:spcBef>
                <a:spcPts val="1000"/>
              </a:spcBef>
              <a:spcAft>
                <a:spcPts val="0"/>
              </a:spcAft>
              <a:buClr>
                <a:schemeClr val="dk1"/>
              </a:buClr>
              <a:buSzPts val="1960"/>
              <a:buNone/>
            </a:pPr>
            <a:r>
              <a:t/>
            </a:r>
            <a:endParaRPr sz="1960">
              <a:solidFill>
                <a:srgbClr val="FFFF00"/>
              </a:solidFill>
            </a:endParaRPr>
          </a:p>
          <a:p>
            <a:pPr indent="-228600" lvl="0" marL="228600" rtl="0" algn="l">
              <a:lnSpc>
                <a:spcPct val="70000"/>
              </a:lnSpc>
              <a:spcBef>
                <a:spcPts val="1000"/>
              </a:spcBef>
              <a:spcAft>
                <a:spcPts val="0"/>
              </a:spcAft>
              <a:buClr>
                <a:srgbClr val="FFFF00"/>
              </a:buClr>
              <a:buSzPts val="1960"/>
              <a:buChar char="•"/>
            </a:pPr>
            <a:r>
              <a:rPr lang="en-US" sz="1960">
                <a:solidFill>
                  <a:srgbClr val="FFFF00"/>
                </a:solidFill>
              </a:rPr>
              <a:t>With this limitation removed, Capcom was able to switch the Camera from a fixed, still perspective to an active one that was always behind the player object. This switch came with many benefits:</a:t>
            </a:r>
            <a:endParaRPr/>
          </a:p>
          <a:p>
            <a:pPr indent="-104140" lvl="0" marL="228600" rtl="0" algn="l">
              <a:lnSpc>
                <a:spcPct val="70000"/>
              </a:lnSpc>
              <a:spcBef>
                <a:spcPts val="1000"/>
              </a:spcBef>
              <a:spcAft>
                <a:spcPts val="0"/>
              </a:spcAft>
              <a:buClr>
                <a:schemeClr val="dk1"/>
              </a:buClr>
              <a:buSzPts val="1960"/>
              <a:buNone/>
            </a:pPr>
            <a:r>
              <a:t/>
            </a:r>
            <a:endParaRPr sz="1960">
              <a:solidFill>
                <a:srgbClr val="FFFF00"/>
              </a:solidFill>
            </a:endParaRPr>
          </a:p>
          <a:p>
            <a:pPr indent="-228600" lvl="1" marL="685800" rtl="0" algn="l">
              <a:lnSpc>
                <a:spcPct val="70000"/>
              </a:lnSpc>
              <a:spcBef>
                <a:spcPts val="500"/>
              </a:spcBef>
              <a:spcAft>
                <a:spcPts val="0"/>
              </a:spcAft>
              <a:buClr>
                <a:srgbClr val="FFFF00"/>
              </a:buClr>
              <a:buSzPts val="1679"/>
              <a:buChar char="•"/>
            </a:pPr>
            <a:r>
              <a:rPr lang="en-US" sz="1679">
                <a:solidFill>
                  <a:srgbClr val="FFFF00"/>
                </a:solidFill>
              </a:rPr>
              <a:t>Player movement became more fluid. Rather than using the unconventional tank control scheme, player could now move in the direction of the analog stick. </a:t>
            </a:r>
            <a:endParaRPr sz="1679">
              <a:solidFill>
                <a:srgbClr val="FFFF00"/>
              </a:solidFill>
            </a:endParaRPr>
          </a:p>
          <a:p>
            <a:pPr indent="-121919" lvl="1" marL="685800" rtl="0" algn="l">
              <a:lnSpc>
                <a:spcPct val="70000"/>
              </a:lnSpc>
              <a:spcBef>
                <a:spcPts val="500"/>
              </a:spcBef>
              <a:spcAft>
                <a:spcPts val="0"/>
              </a:spcAft>
              <a:buClr>
                <a:schemeClr val="dk1"/>
              </a:buClr>
              <a:buSzPts val="1680"/>
              <a:buNone/>
            </a:pPr>
            <a:r>
              <a:t/>
            </a:r>
            <a:endParaRPr sz="1679">
              <a:solidFill>
                <a:srgbClr val="FFFF00"/>
              </a:solidFill>
            </a:endParaRPr>
          </a:p>
          <a:p>
            <a:pPr indent="-228600" lvl="1" marL="685800" rtl="0" algn="l">
              <a:lnSpc>
                <a:spcPct val="70000"/>
              </a:lnSpc>
              <a:spcBef>
                <a:spcPts val="500"/>
              </a:spcBef>
              <a:spcAft>
                <a:spcPts val="0"/>
              </a:spcAft>
              <a:buClr>
                <a:srgbClr val="FFFF00"/>
              </a:buClr>
              <a:buSzPts val="1679"/>
              <a:buChar char="•"/>
            </a:pPr>
            <a:r>
              <a:rPr lang="en-US" sz="1679">
                <a:solidFill>
                  <a:srgbClr val="FFFF00"/>
                </a:solidFill>
              </a:rPr>
              <a:t>Players had more control over shooting their targets, allowing for more intended critical hits (like headshots).</a:t>
            </a:r>
            <a:endParaRPr/>
          </a:p>
          <a:p>
            <a:pPr indent="-121919" lvl="1" marL="685800" rtl="0" algn="l">
              <a:lnSpc>
                <a:spcPct val="70000"/>
              </a:lnSpc>
              <a:spcBef>
                <a:spcPts val="500"/>
              </a:spcBef>
              <a:spcAft>
                <a:spcPts val="0"/>
              </a:spcAft>
              <a:buClr>
                <a:schemeClr val="dk1"/>
              </a:buClr>
              <a:buSzPts val="1680"/>
              <a:buNone/>
            </a:pPr>
            <a:r>
              <a:t/>
            </a:r>
            <a:endParaRPr sz="1679">
              <a:solidFill>
                <a:srgbClr val="FFFF00"/>
              </a:solidFill>
            </a:endParaRPr>
          </a:p>
          <a:p>
            <a:pPr indent="-228600" lvl="1" marL="685800" rtl="0" algn="l">
              <a:lnSpc>
                <a:spcPct val="70000"/>
              </a:lnSpc>
              <a:spcBef>
                <a:spcPts val="500"/>
              </a:spcBef>
              <a:spcAft>
                <a:spcPts val="0"/>
              </a:spcAft>
              <a:buClr>
                <a:srgbClr val="FFFF00"/>
              </a:buClr>
              <a:buSzPts val="1679"/>
              <a:buChar char="•"/>
            </a:pPr>
            <a:r>
              <a:rPr lang="en-US" sz="1679">
                <a:solidFill>
                  <a:srgbClr val="FFFF00"/>
                </a:solidFill>
              </a:rPr>
              <a:t>Levels could be designed in a way that implemented more exportability. Capcom used this to their advantage and implemented an blue medallion hunting system (which would have been impossible to do the original game)</a:t>
            </a:r>
            <a:endParaRPr/>
          </a:p>
          <a:p>
            <a:pPr indent="-121919" lvl="1" marL="685800" rtl="0" algn="l">
              <a:lnSpc>
                <a:spcPct val="70000"/>
              </a:lnSpc>
              <a:spcBef>
                <a:spcPts val="500"/>
              </a:spcBef>
              <a:spcAft>
                <a:spcPts val="0"/>
              </a:spcAft>
              <a:buClr>
                <a:schemeClr val="dk1"/>
              </a:buClr>
              <a:buSzPts val="1680"/>
              <a:buNone/>
            </a:pPr>
            <a:r>
              <a:t/>
            </a:r>
            <a:endParaRPr sz="1679">
              <a:solidFill>
                <a:srgbClr val="FFFF00"/>
              </a:solidFill>
            </a:endParaRPr>
          </a:p>
          <a:p>
            <a:pPr indent="-228600" lvl="1" marL="685800" rtl="0" algn="l">
              <a:lnSpc>
                <a:spcPct val="70000"/>
              </a:lnSpc>
              <a:spcBef>
                <a:spcPts val="500"/>
              </a:spcBef>
              <a:spcAft>
                <a:spcPts val="0"/>
              </a:spcAft>
              <a:buClr>
                <a:srgbClr val="FFFF00"/>
              </a:buClr>
              <a:buSzPts val="1679"/>
              <a:buChar char="•"/>
            </a:pPr>
            <a:r>
              <a:rPr lang="en-US" sz="1679">
                <a:solidFill>
                  <a:srgbClr val="FFFF00"/>
                </a:solidFill>
              </a:rPr>
              <a:t>More enemies could fit on screen.</a:t>
            </a:r>
            <a:endParaRPr/>
          </a:p>
          <a:p>
            <a:pPr indent="0" lvl="0" marL="0" rtl="0" algn="l">
              <a:lnSpc>
                <a:spcPct val="70000"/>
              </a:lnSpc>
              <a:spcBef>
                <a:spcPts val="1000"/>
              </a:spcBef>
              <a:spcAft>
                <a:spcPts val="0"/>
              </a:spcAft>
              <a:buClr>
                <a:schemeClr val="dk1"/>
              </a:buClr>
              <a:buSzPts val="1960"/>
              <a:buNone/>
            </a:pPr>
            <a:r>
              <a:t/>
            </a:r>
            <a:endParaRPr sz="1960">
              <a:solidFill>
                <a:srgbClr val="FFFF00"/>
              </a:solidFill>
            </a:endParaRPr>
          </a:p>
        </p:txBody>
      </p:sp>
      <p:pic>
        <p:nvPicPr>
          <p:cNvPr id="127" name="Google Shape;127;p18"/>
          <p:cNvPicPr preferRelativeResize="0"/>
          <p:nvPr/>
        </p:nvPicPr>
        <p:blipFill rotWithShape="1">
          <a:blip r:embed="rId4">
            <a:alphaModFix/>
          </a:blip>
          <a:srcRect b="0" l="0" r="0" t="0"/>
          <a:stretch/>
        </p:blipFill>
        <p:spPr>
          <a:xfrm>
            <a:off x="9459590" y="-1282530"/>
            <a:ext cx="2743740" cy="1539705"/>
          </a:xfrm>
          <a:prstGeom prst="rect">
            <a:avLst/>
          </a:prstGeom>
          <a:noFill/>
          <a:ln>
            <a:noFill/>
          </a:ln>
        </p:spPr>
      </p:pic>
      <p:pic>
        <p:nvPicPr>
          <p:cNvPr id="128" name="Google Shape;128;p18"/>
          <p:cNvPicPr preferRelativeResize="0"/>
          <p:nvPr/>
        </p:nvPicPr>
        <p:blipFill rotWithShape="1">
          <a:blip r:embed="rId5">
            <a:alphaModFix/>
          </a:blip>
          <a:srcRect b="0" l="0" r="0" t="0"/>
          <a:stretch/>
        </p:blipFill>
        <p:spPr>
          <a:xfrm>
            <a:off x="7534275" y="-1254623"/>
            <a:ext cx="1488927" cy="995720"/>
          </a:xfrm>
          <a:prstGeom prst="rect">
            <a:avLst/>
          </a:prstGeom>
          <a:noFill/>
          <a:ln>
            <a:noFill/>
          </a:ln>
        </p:spPr>
      </p:pic>
      <p:sp>
        <p:nvSpPr>
          <p:cNvPr descr="Image result for resident evil 4 aim" id="129" name="Google Shape;129;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 result for resident evil 4 headshot" id="130" name="Google Shape;130;p18"/>
          <p:cNvPicPr preferRelativeResize="0"/>
          <p:nvPr/>
        </p:nvPicPr>
        <p:blipFill rotWithShape="1">
          <a:blip r:embed="rId6">
            <a:alphaModFix/>
          </a:blip>
          <a:srcRect b="0" l="0" r="0" t="0"/>
          <a:stretch/>
        </p:blipFill>
        <p:spPr>
          <a:xfrm>
            <a:off x="9296812" y="1905107"/>
            <a:ext cx="2895187" cy="1773930"/>
          </a:xfrm>
          <a:prstGeom prst="rect">
            <a:avLst/>
          </a:prstGeom>
          <a:noFill/>
          <a:ln>
            <a:noFill/>
          </a:ln>
        </p:spPr>
      </p:pic>
      <p:pic>
        <p:nvPicPr>
          <p:cNvPr descr="Image result for resident evil 4 screenshots" id="131" name="Google Shape;131;p18"/>
          <p:cNvPicPr preferRelativeResize="0"/>
          <p:nvPr/>
        </p:nvPicPr>
        <p:blipFill rotWithShape="1">
          <a:blip r:embed="rId7">
            <a:alphaModFix/>
          </a:blip>
          <a:srcRect b="0" l="0" r="0" t="0"/>
          <a:stretch/>
        </p:blipFill>
        <p:spPr>
          <a:xfrm>
            <a:off x="9296812" y="267620"/>
            <a:ext cx="2895187" cy="1629884"/>
          </a:xfrm>
          <a:prstGeom prst="rect">
            <a:avLst/>
          </a:prstGeom>
          <a:noFill/>
          <a:ln>
            <a:noFill/>
          </a:ln>
        </p:spPr>
      </p:pic>
      <p:pic>
        <p:nvPicPr>
          <p:cNvPr descr="Image result for resident evil 4 emblem" id="132" name="Google Shape;132;p18"/>
          <p:cNvPicPr preferRelativeResize="0"/>
          <p:nvPr/>
        </p:nvPicPr>
        <p:blipFill rotWithShape="1">
          <a:blip r:embed="rId8">
            <a:alphaModFix/>
          </a:blip>
          <a:srcRect b="0" l="0" r="0" t="0"/>
          <a:stretch/>
        </p:blipFill>
        <p:spPr>
          <a:xfrm>
            <a:off x="9296812" y="5295900"/>
            <a:ext cx="2895188" cy="1609725"/>
          </a:xfrm>
          <a:prstGeom prst="rect">
            <a:avLst/>
          </a:prstGeom>
          <a:noFill/>
          <a:ln>
            <a:noFill/>
          </a:ln>
        </p:spPr>
      </p:pic>
      <p:pic>
        <p:nvPicPr>
          <p:cNvPr id="133" name="Google Shape;133;p18"/>
          <p:cNvPicPr preferRelativeResize="0"/>
          <p:nvPr/>
        </p:nvPicPr>
        <p:blipFill rotWithShape="1">
          <a:blip r:embed="rId9">
            <a:alphaModFix/>
          </a:blip>
          <a:srcRect b="0" l="0" r="0" t="0"/>
          <a:stretch/>
        </p:blipFill>
        <p:spPr>
          <a:xfrm>
            <a:off x="9296812" y="3697529"/>
            <a:ext cx="2900853" cy="163173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Image result for resident evil 4 wallpaper" id="139" name="Google Shape;139;p19"/>
          <p:cNvPicPr preferRelativeResize="0"/>
          <p:nvPr/>
        </p:nvPicPr>
        <p:blipFill rotWithShape="1">
          <a:blip r:embed="rId3">
            <a:alphaModFix/>
          </a:blip>
          <a:srcRect b="0" l="0" r="0" t="0"/>
          <a:stretch/>
        </p:blipFill>
        <p:spPr>
          <a:xfrm>
            <a:off x="0" y="0"/>
            <a:ext cx="12200664" cy="7663543"/>
          </a:xfrm>
          <a:prstGeom prst="rect">
            <a:avLst/>
          </a:prstGeom>
          <a:noFill/>
          <a:ln>
            <a:noFill/>
          </a:ln>
        </p:spPr>
      </p:pic>
      <p:sp>
        <p:nvSpPr>
          <p:cNvPr id="140" name="Google Shape;140;p19"/>
          <p:cNvSpPr txBox="1"/>
          <p:nvPr/>
        </p:nvSpPr>
        <p:spPr>
          <a:xfrm>
            <a:off x="990600" y="517525"/>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Calibri"/>
              <a:buNone/>
            </a:pPr>
            <a:r>
              <a:rPr b="0" i="0" lang="en-US" sz="4400" u="none" cap="none" strike="noStrike">
                <a:solidFill>
                  <a:schemeClr val="lt1"/>
                </a:solidFill>
                <a:latin typeface="Calibri"/>
                <a:ea typeface="Calibri"/>
                <a:cs typeface="Calibri"/>
                <a:sym typeface="Calibri"/>
              </a:rPr>
              <a:t>Argument 2: Reinventing the Enemies</a:t>
            </a:r>
            <a:endParaRPr b="0" i="0" sz="4400" u="none"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0"/>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46" name="Google Shape;146;p20"/>
          <p:cNvSpPr txBox="1"/>
          <p:nvPr>
            <p:ph type="title"/>
          </p:nvPr>
        </p:nvSpPr>
        <p:spPr>
          <a:xfrm>
            <a:off x="314325" y="-768350"/>
            <a:ext cx="721995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2.1 – The Removal of Zombies</a:t>
            </a:r>
            <a:endParaRPr sz="3200">
              <a:solidFill>
                <a:srgbClr val="FFFF00"/>
              </a:solidFill>
            </a:endParaRPr>
          </a:p>
        </p:txBody>
      </p:sp>
      <p:sp>
        <p:nvSpPr>
          <p:cNvPr id="147" name="Google Shape;147;p20"/>
          <p:cNvSpPr txBox="1"/>
          <p:nvPr>
            <p:ph idx="1" type="body"/>
          </p:nvPr>
        </p:nvSpPr>
        <p:spPr>
          <a:xfrm>
            <a:off x="200025" y="557213"/>
            <a:ext cx="8610600" cy="4691062"/>
          </a:xfrm>
          <a:prstGeom prst="rect">
            <a:avLst/>
          </a:prstGeom>
          <a:noFill/>
          <a:ln>
            <a:noFill/>
          </a:ln>
        </p:spPr>
        <p:txBody>
          <a:bodyPr anchorCtr="0" anchor="t" bIns="45700" lIns="91425" spcFirstLastPara="1" rIns="91425" wrap="square" tIns="45700">
            <a:noAutofit/>
          </a:bodyPr>
          <a:lstStyle/>
          <a:p>
            <a:pPr indent="-228600" lvl="0" marL="228600" rtl="0" algn="l">
              <a:lnSpc>
                <a:spcPct val="70000"/>
              </a:lnSpc>
              <a:spcBef>
                <a:spcPts val="0"/>
              </a:spcBef>
              <a:spcAft>
                <a:spcPts val="0"/>
              </a:spcAft>
              <a:buClr>
                <a:srgbClr val="FFFF00"/>
              </a:buClr>
              <a:buSzPts val="2380"/>
              <a:buChar char="•"/>
            </a:pPr>
            <a:r>
              <a:rPr lang="en-US" sz="2380">
                <a:solidFill>
                  <a:srgbClr val="FFFF00"/>
                </a:solidFill>
              </a:rPr>
              <a:t>When this was first announced, Resident Evil fans were shocked. Capcom was taking a huge risk removing the enemy type that rose their series to fame.</a:t>
            </a:r>
            <a:endParaRPr/>
          </a:p>
          <a:p>
            <a:pPr indent="-77470" lvl="0" marL="228600" rtl="0" algn="l">
              <a:lnSpc>
                <a:spcPct val="70000"/>
              </a:lnSpc>
              <a:spcBef>
                <a:spcPts val="1000"/>
              </a:spcBef>
              <a:spcAft>
                <a:spcPts val="0"/>
              </a:spcAft>
              <a:buClr>
                <a:schemeClr val="dk1"/>
              </a:buClr>
              <a:buSzPts val="2380"/>
              <a:buNone/>
            </a:pPr>
            <a:r>
              <a:t/>
            </a:r>
            <a:endParaRPr sz="2380">
              <a:solidFill>
                <a:srgbClr val="FFFF00"/>
              </a:solidFill>
            </a:endParaRPr>
          </a:p>
          <a:p>
            <a:pPr indent="-228600" lvl="0" marL="228600" rtl="0" algn="l">
              <a:lnSpc>
                <a:spcPct val="70000"/>
              </a:lnSpc>
              <a:spcBef>
                <a:spcPts val="1000"/>
              </a:spcBef>
              <a:spcAft>
                <a:spcPts val="0"/>
              </a:spcAft>
              <a:buClr>
                <a:srgbClr val="FFFF00"/>
              </a:buClr>
              <a:buSzPts val="2380"/>
              <a:buChar char="•"/>
            </a:pPr>
            <a:r>
              <a:rPr lang="en-US" sz="2380">
                <a:solidFill>
                  <a:srgbClr val="FFFF00"/>
                </a:solidFill>
              </a:rPr>
              <a:t>The new enemy type was a group of Spanish villagers infected with the Las Plagas virus. These enemies were stronger, smarter, and more aggressive.</a:t>
            </a:r>
            <a:endParaRPr/>
          </a:p>
          <a:p>
            <a:pPr indent="-77470" lvl="0" marL="228600" rtl="0" algn="l">
              <a:lnSpc>
                <a:spcPct val="70000"/>
              </a:lnSpc>
              <a:spcBef>
                <a:spcPts val="1000"/>
              </a:spcBef>
              <a:spcAft>
                <a:spcPts val="0"/>
              </a:spcAft>
              <a:buClr>
                <a:schemeClr val="dk1"/>
              </a:buClr>
              <a:buSzPts val="2380"/>
              <a:buNone/>
            </a:pPr>
            <a:r>
              <a:t/>
            </a:r>
            <a:endParaRPr sz="2380">
              <a:solidFill>
                <a:srgbClr val="FFFF00"/>
              </a:solidFill>
            </a:endParaRPr>
          </a:p>
          <a:p>
            <a:pPr indent="-228600" lvl="0" marL="228600" rtl="0" algn="l">
              <a:lnSpc>
                <a:spcPct val="70000"/>
              </a:lnSpc>
              <a:spcBef>
                <a:spcPts val="1000"/>
              </a:spcBef>
              <a:spcAft>
                <a:spcPts val="0"/>
              </a:spcAft>
              <a:buClr>
                <a:srgbClr val="FFFF00"/>
              </a:buClr>
              <a:buSzPts val="2380"/>
              <a:buChar char="•"/>
            </a:pPr>
            <a:r>
              <a:rPr lang="en-US" sz="2380">
                <a:solidFill>
                  <a:srgbClr val="FFFF00"/>
                </a:solidFill>
              </a:rPr>
              <a:t>Unlike the mindless zombies that inhabited the first 3 Resident Evil Games, these enemies had intelligence and the ability to obey their masters.</a:t>
            </a:r>
            <a:endParaRPr/>
          </a:p>
          <a:p>
            <a:pPr indent="-77470" lvl="0" marL="228600" rtl="0" algn="l">
              <a:lnSpc>
                <a:spcPct val="70000"/>
              </a:lnSpc>
              <a:spcBef>
                <a:spcPts val="1000"/>
              </a:spcBef>
              <a:spcAft>
                <a:spcPts val="0"/>
              </a:spcAft>
              <a:buClr>
                <a:schemeClr val="dk1"/>
              </a:buClr>
              <a:buSzPts val="2380"/>
              <a:buNone/>
            </a:pPr>
            <a:r>
              <a:t/>
            </a:r>
            <a:endParaRPr sz="2380">
              <a:solidFill>
                <a:srgbClr val="FFFF00"/>
              </a:solidFill>
            </a:endParaRPr>
          </a:p>
          <a:p>
            <a:pPr indent="-228600" lvl="0" marL="228600" rtl="0" algn="l">
              <a:lnSpc>
                <a:spcPct val="70000"/>
              </a:lnSpc>
              <a:spcBef>
                <a:spcPts val="1000"/>
              </a:spcBef>
              <a:spcAft>
                <a:spcPts val="0"/>
              </a:spcAft>
              <a:buClr>
                <a:srgbClr val="FFFF00"/>
              </a:buClr>
              <a:buSzPts val="2380"/>
              <a:buChar char="•"/>
            </a:pPr>
            <a:r>
              <a:rPr lang="en-US" sz="2380">
                <a:solidFill>
                  <a:srgbClr val="FFFF00"/>
                </a:solidFill>
              </a:rPr>
              <a:t>This change was crucial to both the plot as well as the way that the game was designed.</a:t>
            </a:r>
            <a:endParaRPr/>
          </a:p>
          <a:p>
            <a:pPr indent="0" lvl="0" marL="0" rtl="0" algn="l">
              <a:lnSpc>
                <a:spcPct val="70000"/>
              </a:lnSpc>
              <a:spcBef>
                <a:spcPts val="1000"/>
              </a:spcBef>
              <a:spcAft>
                <a:spcPts val="0"/>
              </a:spcAft>
              <a:buClr>
                <a:schemeClr val="dk1"/>
              </a:buClr>
              <a:buSzPts val="2380"/>
              <a:buNone/>
            </a:pPr>
            <a:r>
              <a:t/>
            </a:r>
            <a:endParaRPr sz="2380">
              <a:solidFill>
                <a:srgbClr val="FFFF00"/>
              </a:solidFill>
            </a:endParaRPr>
          </a:p>
        </p:txBody>
      </p:sp>
      <p:sp>
        <p:nvSpPr>
          <p:cNvPr descr="Image result for resident evil 4 aim" id="148" name="Google Shape;148;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https://vignette.wikia.nocookie.net/villains/images/1/13/Lord_Osmund_Saddler.jpg/revision/latest/scale-to-width-down/310?cb=20120728014847" id="149" name="Google Shape;149;p20"/>
          <p:cNvPicPr preferRelativeResize="0"/>
          <p:nvPr/>
        </p:nvPicPr>
        <p:blipFill rotWithShape="1">
          <a:blip r:embed="rId4">
            <a:alphaModFix/>
          </a:blip>
          <a:srcRect b="0" l="0" r="0" t="0"/>
          <a:stretch/>
        </p:blipFill>
        <p:spPr>
          <a:xfrm>
            <a:off x="10318688" y="-1267323"/>
            <a:ext cx="1873312" cy="26770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1"/>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55" name="Google Shape;155;p21"/>
          <p:cNvSpPr txBox="1"/>
          <p:nvPr>
            <p:ph type="title"/>
          </p:nvPr>
        </p:nvSpPr>
        <p:spPr>
          <a:xfrm>
            <a:off x="314325" y="-768350"/>
            <a:ext cx="8350704"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2.2 – The Standard Infected Villager</a:t>
            </a:r>
            <a:endParaRPr sz="3200">
              <a:solidFill>
                <a:srgbClr val="FFFF00"/>
              </a:solidFill>
            </a:endParaRPr>
          </a:p>
        </p:txBody>
      </p:sp>
      <p:sp>
        <p:nvSpPr>
          <p:cNvPr id="156" name="Google Shape;156;p21"/>
          <p:cNvSpPr txBox="1"/>
          <p:nvPr>
            <p:ph idx="1" type="body"/>
          </p:nvPr>
        </p:nvSpPr>
        <p:spPr>
          <a:xfrm>
            <a:off x="200025" y="557213"/>
            <a:ext cx="8610600" cy="4691062"/>
          </a:xfrm>
          <a:prstGeom prst="rect">
            <a:avLst/>
          </a:prstGeom>
          <a:noFill/>
          <a:ln>
            <a:noFill/>
          </a:ln>
        </p:spPr>
        <p:txBody>
          <a:bodyPr anchorCtr="0" anchor="t" bIns="45700" lIns="91425" spcFirstLastPara="1" rIns="91425" wrap="square" tIns="45700">
            <a:noAutofit/>
          </a:bodyPr>
          <a:lstStyle/>
          <a:p>
            <a:pPr indent="-228600" lvl="0" marL="228600" rtl="0" algn="l">
              <a:lnSpc>
                <a:spcPct val="70000"/>
              </a:lnSpc>
              <a:spcBef>
                <a:spcPts val="0"/>
              </a:spcBef>
              <a:spcAft>
                <a:spcPts val="0"/>
              </a:spcAft>
              <a:buClr>
                <a:srgbClr val="FFFF00"/>
              </a:buClr>
              <a:buSzPts val="2170"/>
              <a:buChar char="•"/>
            </a:pPr>
            <a:r>
              <a:rPr lang="en-US" sz="2170">
                <a:solidFill>
                  <a:srgbClr val="FFFF00"/>
                </a:solidFill>
              </a:rPr>
              <a:t>These were the main enemy type that inhabited the game world.</a:t>
            </a:r>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0" marL="228600" rtl="0" algn="l">
              <a:lnSpc>
                <a:spcPct val="70000"/>
              </a:lnSpc>
              <a:spcBef>
                <a:spcPts val="1000"/>
              </a:spcBef>
              <a:spcAft>
                <a:spcPts val="0"/>
              </a:spcAft>
              <a:buClr>
                <a:srgbClr val="FFFF00"/>
              </a:buClr>
              <a:buSzPts val="2170"/>
              <a:buChar char="•"/>
            </a:pPr>
            <a:r>
              <a:rPr lang="en-US" sz="2170">
                <a:solidFill>
                  <a:srgbClr val="FFFF00"/>
                </a:solidFill>
              </a:rPr>
              <a:t>Designed to be like pawns that could be killed off in mass numbers.</a:t>
            </a:r>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0" marL="228600" rtl="0" algn="l">
              <a:lnSpc>
                <a:spcPct val="70000"/>
              </a:lnSpc>
              <a:spcBef>
                <a:spcPts val="1000"/>
              </a:spcBef>
              <a:spcAft>
                <a:spcPts val="0"/>
              </a:spcAft>
              <a:buClr>
                <a:srgbClr val="FFFF00"/>
              </a:buClr>
              <a:buSzPts val="2170"/>
              <a:buChar char="•"/>
            </a:pPr>
            <a:r>
              <a:rPr lang="en-US" sz="2170">
                <a:solidFill>
                  <a:srgbClr val="FFFF00"/>
                </a:solidFill>
              </a:rPr>
              <a:t>Unlike zombies, they were capable of using tools and weapons. They could also charge towards the player at full speed. This added a whole new level of tension to the game’s survival horror genre.</a:t>
            </a:r>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0" marL="228600" rtl="0" algn="l">
              <a:lnSpc>
                <a:spcPct val="70000"/>
              </a:lnSpc>
              <a:spcBef>
                <a:spcPts val="1000"/>
              </a:spcBef>
              <a:spcAft>
                <a:spcPts val="0"/>
              </a:spcAft>
              <a:buClr>
                <a:srgbClr val="FFFF00"/>
              </a:buClr>
              <a:buSzPts val="2170"/>
              <a:buChar char="•"/>
            </a:pPr>
            <a:r>
              <a:rPr lang="en-US" sz="2170">
                <a:solidFill>
                  <a:srgbClr val="FFFF00"/>
                </a:solidFill>
              </a:rPr>
              <a:t>Programmed to have feedback loops. If the player killed many of them easily, the game would increase their AI difficulty and spawn more of them. Inversely, if they killed the player a lot, the game would lower their AI and spawn less of them. </a:t>
            </a:r>
            <a:endParaRPr sz="2170">
              <a:solidFill>
                <a:srgbClr val="FFFF00"/>
              </a:solidFill>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1" marL="685800" rtl="0" algn="l">
              <a:lnSpc>
                <a:spcPct val="70000"/>
              </a:lnSpc>
              <a:spcBef>
                <a:spcPts val="500"/>
              </a:spcBef>
              <a:spcAft>
                <a:spcPts val="0"/>
              </a:spcAft>
              <a:buClr>
                <a:srgbClr val="FFFF00"/>
              </a:buClr>
              <a:buSzPts val="1860"/>
              <a:buChar char="•"/>
            </a:pPr>
            <a:r>
              <a:rPr lang="en-US" sz="1860">
                <a:solidFill>
                  <a:srgbClr val="FFFF00"/>
                </a:solidFill>
              </a:rPr>
              <a:t>This AI mechanic was reiterated into series like Fallout, Skyrim and Dark Souls.</a:t>
            </a:r>
            <a:endParaRPr/>
          </a:p>
          <a:p>
            <a:pPr indent="-228600" lvl="1" marL="685800" rtl="0" algn="l">
              <a:lnSpc>
                <a:spcPct val="70000"/>
              </a:lnSpc>
              <a:spcBef>
                <a:spcPts val="500"/>
              </a:spcBef>
              <a:spcAft>
                <a:spcPts val="0"/>
              </a:spcAft>
              <a:buClr>
                <a:srgbClr val="FFFF00"/>
              </a:buClr>
              <a:buSzPts val="1860"/>
              <a:buChar char="•"/>
            </a:pPr>
            <a:r>
              <a:rPr lang="en-US" sz="1860">
                <a:solidFill>
                  <a:srgbClr val="FFFF00"/>
                </a:solidFill>
              </a:rPr>
              <a:t>Mark Brown video</a:t>
            </a:r>
            <a:endParaRPr/>
          </a:p>
          <a:p>
            <a:pPr indent="0" lvl="0" marL="0" rtl="0" algn="l">
              <a:lnSpc>
                <a:spcPct val="70000"/>
              </a:lnSpc>
              <a:spcBef>
                <a:spcPts val="1000"/>
              </a:spcBef>
              <a:spcAft>
                <a:spcPts val="0"/>
              </a:spcAft>
              <a:buClr>
                <a:schemeClr val="dk1"/>
              </a:buClr>
              <a:buSzPts val="2170"/>
              <a:buNone/>
            </a:pPr>
            <a:r>
              <a:t/>
            </a:r>
            <a:endParaRPr sz="2170">
              <a:solidFill>
                <a:srgbClr val="FFFF00"/>
              </a:solidFill>
            </a:endParaRPr>
          </a:p>
        </p:txBody>
      </p:sp>
      <p:sp>
        <p:nvSpPr>
          <p:cNvPr descr="Image result for resident evil 4 aim" id="157" name="Google Shape;157;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2"/>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63" name="Google Shape;163;p22"/>
          <p:cNvSpPr txBox="1"/>
          <p:nvPr>
            <p:ph type="title"/>
          </p:nvPr>
        </p:nvSpPr>
        <p:spPr>
          <a:xfrm>
            <a:off x="314325" y="-768350"/>
            <a:ext cx="721995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2.3 – Special Infected and Boss Battles</a:t>
            </a:r>
            <a:endParaRPr sz="3200">
              <a:solidFill>
                <a:srgbClr val="FFFF00"/>
              </a:solidFill>
            </a:endParaRPr>
          </a:p>
        </p:txBody>
      </p:sp>
      <p:sp>
        <p:nvSpPr>
          <p:cNvPr descr="Image result for resident evil 4 aim" id="164" name="Google Shape;164;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ellaSisters" id="165" name="Google Shape;165;p22"/>
          <p:cNvPicPr preferRelativeResize="0"/>
          <p:nvPr/>
        </p:nvPicPr>
        <p:blipFill rotWithShape="1">
          <a:blip r:embed="rId4">
            <a:alphaModFix/>
          </a:blip>
          <a:srcRect b="0" l="0" r="0" t="0"/>
          <a:stretch/>
        </p:blipFill>
        <p:spPr>
          <a:xfrm>
            <a:off x="10274300" y="-1307492"/>
            <a:ext cx="1992849" cy="2158921"/>
          </a:xfrm>
          <a:prstGeom prst="rect">
            <a:avLst/>
          </a:prstGeom>
          <a:noFill/>
          <a:ln>
            <a:noFill/>
          </a:ln>
        </p:spPr>
      </p:pic>
      <p:pic>
        <p:nvPicPr>
          <p:cNvPr descr="Jj" id="166" name="Google Shape;166;p22"/>
          <p:cNvPicPr preferRelativeResize="0"/>
          <p:nvPr/>
        </p:nvPicPr>
        <p:blipFill rotWithShape="1">
          <a:blip r:embed="rId5">
            <a:alphaModFix/>
          </a:blip>
          <a:srcRect b="0" l="0" r="0" t="0"/>
          <a:stretch/>
        </p:blipFill>
        <p:spPr>
          <a:xfrm>
            <a:off x="9772650" y="2735855"/>
            <a:ext cx="3181350" cy="2392377"/>
          </a:xfrm>
          <a:prstGeom prst="rect">
            <a:avLst/>
          </a:prstGeom>
          <a:noFill/>
          <a:ln>
            <a:noFill/>
          </a:ln>
        </p:spPr>
      </p:pic>
      <p:pic>
        <p:nvPicPr>
          <p:cNvPr descr="Regenerator" id="167" name="Google Shape;167;p22"/>
          <p:cNvPicPr preferRelativeResize="0"/>
          <p:nvPr/>
        </p:nvPicPr>
        <p:blipFill rotWithShape="1">
          <a:blip r:embed="rId6">
            <a:alphaModFix/>
          </a:blip>
          <a:srcRect b="0" l="0" r="0" t="0"/>
          <a:stretch/>
        </p:blipFill>
        <p:spPr>
          <a:xfrm>
            <a:off x="9690100" y="5040409"/>
            <a:ext cx="2501900" cy="1876426"/>
          </a:xfrm>
          <a:prstGeom prst="rect">
            <a:avLst/>
          </a:prstGeom>
          <a:noFill/>
          <a:ln>
            <a:noFill/>
          </a:ln>
        </p:spPr>
      </p:pic>
      <p:pic>
        <p:nvPicPr>
          <p:cNvPr descr="Iron-maiden-re4" id="168" name="Google Shape;168;p22"/>
          <p:cNvPicPr preferRelativeResize="0"/>
          <p:nvPr/>
        </p:nvPicPr>
        <p:blipFill rotWithShape="1">
          <a:blip r:embed="rId7">
            <a:alphaModFix/>
          </a:blip>
          <a:srcRect b="0" l="0" r="0" t="0"/>
          <a:stretch/>
        </p:blipFill>
        <p:spPr>
          <a:xfrm>
            <a:off x="8667750" y="-1286373"/>
            <a:ext cx="1714500" cy="2447926"/>
          </a:xfrm>
          <a:prstGeom prst="rect">
            <a:avLst/>
          </a:prstGeom>
          <a:noFill/>
          <a:ln>
            <a:noFill/>
          </a:ln>
        </p:spPr>
      </p:pic>
      <p:pic>
        <p:nvPicPr>
          <p:cNvPr descr="Xxxxxxxxxxxxxxxxxxxxxxxxxxxxxxx" id="169" name="Google Shape;169;p22"/>
          <p:cNvPicPr preferRelativeResize="0"/>
          <p:nvPr/>
        </p:nvPicPr>
        <p:blipFill rotWithShape="1">
          <a:blip r:embed="rId8">
            <a:alphaModFix/>
          </a:blip>
          <a:srcRect b="0" l="0" r="0" t="0"/>
          <a:stretch/>
        </p:blipFill>
        <p:spPr>
          <a:xfrm>
            <a:off x="10290175" y="590053"/>
            <a:ext cx="2143125" cy="2143125"/>
          </a:xfrm>
          <a:prstGeom prst="rect">
            <a:avLst/>
          </a:prstGeom>
          <a:noFill/>
          <a:ln>
            <a:noFill/>
          </a:ln>
        </p:spPr>
      </p:pic>
      <p:pic>
        <p:nvPicPr>
          <p:cNvPr descr="El Gigante (Resident Evil)" id="170" name="Google Shape;170;p22"/>
          <p:cNvPicPr preferRelativeResize="0"/>
          <p:nvPr/>
        </p:nvPicPr>
        <p:blipFill rotWithShape="1">
          <a:blip r:embed="rId9">
            <a:alphaModFix/>
          </a:blip>
          <a:srcRect b="0" l="0" r="0" t="0"/>
          <a:stretch/>
        </p:blipFill>
        <p:spPr>
          <a:xfrm>
            <a:off x="8294687" y="1123452"/>
            <a:ext cx="2014041" cy="2014041"/>
          </a:xfrm>
          <a:prstGeom prst="rect">
            <a:avLst/>
          </a:prstGeom>
          <a:noFill/>
          <a:ln>
            <a:noFill/>
          </a:ln>
        </p:spPr>
      </p:pic>
      <p:pic>
        <p:nvPicPr>
          <p:cNvPr descr="Del Lago" id="171" name="Google Shape;171;p22"/>
          <p:cNvPicPr preferRelativeResize="0"/>
          <p:nvPr/>
        </p:nvPicPr>
        <p:blipFill rotWithShape="1">
          <a:blip r:embed="rId10">
            <a:alphaModFix/>
          </a:blip>
          <a:srcRect b="0" l="0" r="0" t="0"/>
          <a:stretch/>
        </p:blipFill>
        <p:spPr>
          <a:xfrm>
            <a:off x="8515350" y="3064468"/>
            <a:ext cx="1800225" cy="2400301"/>
          </a:xfrm>
          <a:prstGeom prst="rect">
            <a:avLst/>
          </a:prstGeom>
          <a:noFill/>
          <a:ln>
            <a:noFill/>
          </a:ln>
        </p:spPr>
      </p:pic>
      <p:pic>
        <p:nvPicPr>
          <p:cNvPr descr="Novistador" id="172" name="Google Shape;172;p22"/>
          <p:cNvPicPr preferRelativeResize="0"/>
          <p:nvPr/>
        </p:nvPicPr>
        <p:blipFill rotWithShape="1">
          <a:blip r:embed="rId11">
            <a:alphaModFix/>
          </a:blip>
          <a:srcRect b="0" l="0" r="0" t="0"/>
          <a:stretch/>
        </p:blipFill>
        <p:spPr>
          <a:xfrm>
            <a:off x="8708231" y="5196480"/>
            <a:ext cx="1714500" cy="1714500"/>
          </a:xfrm>
          <a:prstGeom prst="rect">
            <a:avLst/>
          </a:prstGeom>
          <a:noFill/>
          <a:ln>
            <a:noFill/>
          </a:ln>
        </p:spPr>
      </p:pic>
      <p:sp>
        <p:nvSpPr>
          <p:cNvPr id="173" name="Google Shape;173;p22"/>
          <p:cNvSpPr txBox="1"/>
          <p:nvPr/>
        </p:nvSpPr>
        <p:spPr>
          <a:xfrm>
            <a:off x="200025" y="557213"/>
            <a:ext cx="7987506" cy="4691062"/>
          </a:xfrm>
          <a:prstGeom prst="rect">
            <a:avLst/>
          </a:prstGeom>
          <a:noFill/>
          <a:ln>
            <a:noFill/>
          </a:ln>
        </p:spPr>
        <p:txBody>
          <a:bodyPr anchorCtr="0" anchor="t" bIns="45700" lIns="91425" spcFirstLastPara="1" rIns="91425" wrap="square" tIns="45700">
            <a:noAutofit/>
          </a:bodyPr>
          <a:lstStyle/>
          <a:p>
            <a:pPr indent="-228600" lvl="0" marL="228600" marR="0" rtl="0" algn="l">
              <a:lnSpc>
                <a:spcPct val="70000"/>
              </a:lnSpc>
              <a:spcBef>
                <a:spcPts val="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In addition to the standard villagers, Capcom also introduced a wide variety of specials Las Plagas infected enemies.</a:t>
            </a:r>
            <a:endParaRPr b="0" i="0" sz="1400" u="none" cap="none" strike="noStrike">
              <a:solidFill>
                <a:srgbClr val="000000"/>
              </a:solidFill>
              <a:latin typeface="Arial"/>
              <a:ea typeface="Arial"/>
              <a:cs typeface="Arial"/>
              <a:sym typeface="Arial"/>
            </a:endParaRPr>
          </a:p>
          <a:p>
            <a:pPr indent="-228600" lvl="0" marL="228600" marR="0" rtl="0" algn="l">
              <a:lnSpc>
                <a:spcPct val="7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These enemies all had their own unique set of moves and attack patterns. </a:t>
            </a:r>
            <a:endParaRPr b="0" i="0" sz="1400" u="none" cap="none" strike="noStrike">
              <a:solidFill>
                <a:srgbClr val="000000"/>
              </a:solidFill>
              <a:latin typeface="Arial"/>
              <a:ea typeface="Arial"/>
              <a:cs typeface="Arial"/>
              <a:sym typeface="Arial"/>
            </a:endParaRPr>
          </a:p>
          <a:p>
            <a:pPr indent="-228600" lvl="0" marL="228600" marR="0" rtl="0" algn="l">
              <a:lnSpc>
                <a:spcPct val="7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Some of them required special tactics and conditions to be defeated.</a:t>
            </a:r>
            <a:endParaRPr b="0" i="0" sz="1400" u="none" cap="none" strike="noStrike">
              <a:solidFill>
                <a:srgbClr val="000000"/>
              </a:solidFill>
              <a:latin typeface="Arial"/>
              <a:ea typeface="Arial"/>
              <a:cs typeface="Arial"/>
              <a:sym typeface="Arial"/>
            </a:endParaRPr>
          </a:p>
          <a:p>
            <a:pPr indent="-228600" lvl="0" marL="228600" marR="0" rtl="0" algn="l">
              <a:lnSpc>
                <a:spcPct val="7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Capcom designed the game’s levels and encounters in ways that complimented the challenge of defeating these enemies.</a:t>
            </a:r>
            <a:endParaRPr b="0" i="0" sz="1400" u="none" cap="none" strike="noStrike">
              <a:solidFill>
                <a:srgbClr val="000000"/>
              </a:solidFill>
              <a:latin typeface="Arial"/>
              <a:ea typeface="Arial"/>
              <a:cs typeface="Arial"/>
              <a:sym typeface="Arial"/>
            </a:endParaRPr>
          </a:p>
          <a:p>
            <a:pPr indent="-228600" lvl="1" marL="685800" marR="0" rtl="0" algn="l">
              <a:lnSpc>
                <a:spcPct val="70000"/>
              </a:lnSpc>
              <a:spcBef>
                <a:spcPts val="500"/>
              </a:spcBef>
              <a:spcAft>
                <a:spcPts val="0"/>
              </a:spcAft>
              <a:buClr>
                <a:srgbClr val="FFFF00"/>
              </a:buClr>
              <a:buSzPts val="2220"/>
              <a:buFont typeface="Arial"/>
              <a:buChar char="•"/>
            </a:pPr>
            <a:r>
              <a:rPr b="0" i="0" lang="en-US" sz="2220" u="none" cap="none" strike="noStrike">
                <a:solidFill>
                  <a:srgbClr val="FFFF00"/>
                </a:solidFill>
                <a:latin typeface="Calibri"/>
                <a:ea typeface="Calibri"/>
                <a:cs typeface="Calibri"/>
                <a:sym typeface="Calibri"/>
              </a:rPr>
              <a:t>At first, only one would be introduced at a time, subtly teaching the player about the way their mechanics work.</a:t>
            </a:r>
            <a:endParaRPr b="0" i="0" sz="1400" u="none" cap="none" strike="noStrike">
              <a:solidFill>
                <a:srgbClr val="000000"/>
              </a:solidFill>
              <a:latin typeface="Arial"/>
              <a:ea typeface="Arial"/>
              <a:cs typeface="Arial"/>
              <a:sym typeface="Arial"/>
            </a:endParaRPr>
          </a:p>
          <a:p>
            <a:pPr indent="-87630" lvl="1" marL="685800" marR="0" rtl="0" algn="l">
              <a:lnSpc>
                <a:spcPct val="70000"/>
              </a:lnSpc>
              <a:spcBef>
                <a:spcPts val="500"/>
              </a:spcBef>
              <a:spcAft>
                <a:spcPts val="0"/>
              </a:spcAft>
              <a:buClr>
                <a:schemeClr val="dk1"/>
              </a:buClr>
              <a:buSzPts val="2220"/>
              <a:buFont typeface="Arial"/>
              <a:buNone/>
            </a:pPr>
            <a:r>
              <a:t/>
            </a:r>
            <a:endParaRPr b="0" i="0" sz="2220" u="none" cap="none" strike="noStrike">
              <a:solidFill>
                <a:srgbClr val="FFFF00"/>
              </a:solidFill>
              <a:latin typeface="Calibri"/>
              <a:ea typeface="Calibri"/>
              <a:cs typeface="Calibri"/>
              <a:sym typeface="Calibri"/>
            </a:endParaRPr>
          </a:p>
          <a:p>
            <a:pPr indent="-228600" lvl="1" marL="685800" marR="0" rtl="0" algn="l">
              <a:lnSpc>
                <a:spcPct val="70000"/>
              </a:lnSpc>
              <a:spcBef>
                <a:spcPts val="500"/>
              </a:spcBef>
              <a:spcAft>
                <a:spcPts val="0"/>
              </a:spcAft>
              <a:buClr>
                <a:srgbClr val="FFFF00"/>
              </a:buClr>
              <a:buSzPts val="2220"/>
              <a:buFont typeface="Arial"/>
              <a:buChar char="•"/>
            </a:pPr>
            <a:r>
              <a:rPr b="0" i="0" lang="en-US" sz="2220" u="none" cap="none" strike="noStrike">
                <a:solidFill>
                  <a:srgbClr val="FFFF00"/>
                </a:solidFill>
                <a:latin typeface="Calibri"/>
                <a:ea typeface="Calibri"/>
                <a:cs typeface="Calibri"/>
                <a:sym typeface="Calibri"/>
              </a:rPr>
              <a:t> By the end of the game, the player is well-accustomed to their style and is fighting dozens of them at once. </a:t>
            </a:r>
            <a:endParaRPr b="0" i="0" sz="1400" u="none" cap="none" strike="noStrike">
              <a:solidFill>
                <a:srgbClr val="000000"/>
              </a:solidFill>
              <a:latin typeface="Arial"/>
              <a:ea typeface="Arial"/>
              <a:cs typeface="Arial"/>
              <a:sym typeface="Arial"/>
            </a:endParaRPr>
          </a:p>
          <a:p>
            <a:pPr indent="-87630" lvl="1" marL="685800" marR="0" rtl="0" algn="l">
              <a:lnSpc>
                <a:spcPct val="70000"/>
              </a:lnSpc>
              <a:spcBef>
                <a:spcPts val="500"/>
              </a:spcBef>
              <a:spcAft>
                <a:spcPts val="0"/>
              </a:spcAft>
              <a:buClr>
                <a:schemeClr val="dk1"/>
              </a:buClr>
              <a:buSzPts val="2220"/>
              <a:buFont typeface="Arial"/>
              <a:buNone/>
            </a:pPr>
            <a:r>
              <a:t/>
            </a:r>
            <a:endParaRPr b="0" i="0" sz="2220" u="none" cap="none" strike="noStrike">
              <a:solidFill>
                <a:srgbClr val="FFFF00"/>
              </a:solidFill>
              <a:latin typeface="Calibri"/>
              <a:ea typeface="Calibri"/>
              <a:cs typeface="Calibri"/>
              <a:sym typeface="Calibri"/>
            </a:endParaRPr>
          </a:p>
          <a:p>
            <a:pPr indent="-64135" lvl="0" marL="228600" marR="0" rtl="0" algn="l">
              <a:lnSpc>
                <a:spcPct val="70000"/>
              </a:lnSpc>
              <a:spcBef>
                <a:spcPts val="1000"/>
              </a:spcBef>
              <a:spcAft>
                <a:spcPts val="0"/>
              </a:spcAft>
              <a:buClr>
                <a:schemeClr val="dk1"/>
              </a:buClr>
              <a:buSzPts val="2590"/>
              <a:buFont typeface="Arial"/>
              <a:buNone/>
            </a:pPr>
            <a:r>
              <a:t/>
            </a:r>
            <a:endParaRPr b="0" i="0" sz="2590" u="none" cap="none" strike="noStrike">
              <a:solidFill>
                <a:srgbClr val="FFFF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3"/>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79" name="Google Shape;17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Image result for resident evil 4" id="180" name="Google Shape;180;p23"/>
          <p:cNvPicPr preferRelativeResize="0"/>
          <p:nvPr/>
        </p:nvPicPr>
        <p:blipFill rotWithShape="1">
          <a:blip r:embed="rId4">
            <a:alphaModFix/>
          </a:blip>
          <a:srcRect b="0" l="0" r="0" t="0"/>
          <a:stretch/>
        </p:blipFill>
        <p:spPr>
          <a:xfrm>
            <a:off x="-1" y="-1267323"/>
            <a:ext cx="14445017" cy="8125323"/>
          </a:xfrm>
          <a:prstGeom prst="rect">
            <a:avLst/>
          </a:prstGeom>
          <a:noFill/>
          <a:ln>
            <a:noFill/>
          </a:ln>
        </p:spPr>
      </p:pic>
      <p:sp>
        <p:nvSpPr>
          <p:cNvPr id="181" name="Google Shape;18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Argument 3: Emphasis On Action</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24"/>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87" name="Google Shape;187;p24"/>
          <p:cNvSpPr txBox="1"/>
          <p:nvPr>
            <p:ph type="title"/>
          </p:nvPr>
        </p:nvSpPr>
        <p:spPr>
          <a:xfrm>
            <a:off x="314324" y="-768350"/>
            <a:ext cx="9502775"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3.1 – Understanding the Playstyle of Previous Entries.</a:t>
            </a:r>
            <a:endParaRPr sz="3200">
              <a:solidFill>
                <a:srgbClr val="FFFF00"/>
              </a:solidFill>
            </a:endParaRPr>
          </a:p>
        </p:txBody>
      </p:sp>
      <p:sp>
        <p:nvSpPr>
          <p:cNvPr descr="Image result for resident evil 4 aim" id="188" name="Google Shape;188;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24"/>
          <p:cNvSpPr txBox="1"/>
          <p:nvPr/>
        </p:nvSpPr>
        <p:spPr>
          <a:xfrm>
            <a:off x="200025" y="557212"/>
            <a:ext cx="7987506" cy="5678487"/>
          </a:xfrm>
          <a:prstGeom prst="rect">
            <a:avLst/>
          </a:prstGeom>
          <a:noFill/>
          <a:ln>
            <a:noFill/>
          </a:ln>
        </p:spPr>
        <p:txBody>
          <a:bodyPr anchorCtr="0" anchor="t" bIns="45700" lIns="91425" spcFirstLastPara="1" rIns="91425" wrap="square" tIns="45700">
            <a:noAutofit/>
          </a:bodyPr>
          <a:lstStyle/>
          <a:p>
            <a:pPr indent="-228600" lvl="0" marL="228600" marR="0" rtl="0" algn="l">
              <a:lnSpc>
                <a:spcPct val="70000"/>
              </a:lnSpc>
              <a:spcBef>
                <a:spcPts val="0"/>
              </a:spcBef>
              <a:spcAft>
                <a:spcPts val="0"/>
              </a:spcAft>
              <a:buClr>
                <a:srgbClr val="FFFF00"/>
              </a:buClr>
              <a:buSzPts val="1960"/>
              <a:buFont typeface="Arial"/>
              <a:buChar char="•"/>
            </a:pPr>
            <a:r>
              <a:rPr b="0" i="0" lang="en-US" sz="1960" u="none" cap="none" strike="noStrike">
                <a:solidFill>
                  <a:srgbClr val="FFFF00"/>
                </a:solidFill>
                <a:latin typeface="Calibri"/>
                <a:ea typeface="Calibri"/>
                <a:cs typeface="Calibri"/>
                <a:sym typeface="Calibri"/>
              </a:rPr>
              <a:t>The first 3 Resident Evil games had a different method of providing tense experiences.</a:t>
            </a:r>
            <a:endParaRPr b="0" i="0" sz="1400" u="none" cap="none" strike="noStrike">
              <a:solidFill>
                <a:srgbClr val="000000"/>
              </a:solidFill>
              <a:latin typeface="Arial"/>
              <a:ea typeface="Arial"/>
              <a:cs typeface="Arial"/>
              <a:sym typeface="Arial"/>
            </a:endParaRPr>
          </a:p>
          <a:p>
            <a:pPr indent="-104140" lvl="0" marL="228600" marR="0" rtl="0" algn="l">
              <a:lnSpc>
                <a:spcPct val="70000"/>
              </a:lnSpc>
              <a:spcBef>
                <a:spcPts val="1000"/>
              </a:spcBef>
              <a:spcAft>
                <a:spcPts val="0"/>
              </a:spcAft>
              <a:buClr>
                <a:schemeClr val="dk1"/>
              </a:buClr>
              <a:buSzPts val="1960"/>
              <a:buFont typeface="Arial"/>
              <a:buNone/>
            </a:pPr>
            <a:r>
              <a:t/>
            </a:r>
            <a:endParaRPr b="0" i="0" sz="1960" u="none" cap="none" strike="noStrike">
              <a:solidFill>
                <a:srgbClr val="FFFF00"/>
              </a:solidFill>
              <a:latin typeface="Calibri"/>
              <a:ea typeface="Calibri"/>
              <a:cs typeface="Calibri"/>
              <a:sym typeface="Calibri"/>
            </a:endParaRPr>
          </a:p>
          <a:p>
            <a:pPr indent="-228600" lvl="0" marL="228600" marR="0" rtl="0" algn="l">
              <a:lnSpc>
                <a:spcPct val="70000"/>
              </a:lnSpc>
              <a:spcBef>
                <a:spcPts val="1000"/>
              </a:spcBef>
              <a:spcAft>
                <a:spcPts val="0"/>
              </a:spcAft>
              <a:buClr>
                <a:srgbClr val="FFFF00"/>
              </a:buClr>
              <a:buSzPts val="1960"/>
              <a:buFont typeface="Arial"/>
              <a:buChar char="•"/>
            </a:pPr>
            <a:r>
              <a:rPr b="0" i="0" lang="en-US" sz="1960" u="none" cap="none" strike="noStrike">
                <a:solidFill>
                  <a:srgbClr val="FFFF00"/>
                </a:solidFill>
                <a:latin typeface="Calibri"/>
                <a:ea typeface="Calibri"/>
                <a:cs typeface="Calibri"/>
                <a:sym typeface="Calibri"/>
              </a:rPr>
              <a:t>This games were designed similarly to a point and click adventure. The main objective was to solve puzzles and search for key items to escape the mansion alive. </a:t>
            </a:r>
            <a:endParaRPr b="0" i="0" sz="1400" u="none" cap="none" strike="noStrike">
              <a:solidFill>
                <a:srgbClr val="000000"/>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960"/>
              <a:buFont typeface="Arial"/>
              <a:buNone/>
            </a:pPr>
            <a:r>
              <a:t/>
            </a:r>
            <a:endParaRPr b="0" i="0" sz="1960" u="none" cap="none" strike="noStrike">
              <a:solidFill>
                <a:srgbClr val="FFFF00"/>
              </a:solidFill>
              <a:latin typeface="Calibri"/>
              <a:ea typeface="Calibri"/>
              <a:cs typeface="Calibri"/>
              <a:sym typeface="Calibri"/>
            </a:endParaRPr>
          </a:p>
          <a:p>
            <a:pPr indent="-228600" lvl="0" marL="228600" marR="0" rtl="0" algn="l">
              <a:lnSpc>
                <a:spcPct val="70000"/>
              </a:lnSpc>
              <a:spcBef>
                <a:spcPts val="1000"/>
              </a:spcBef>
              <a:spcAft>
                <a:spcPts val="0"/>
              </a:spcAft>
              <a:buClr>
                <a:srgbClr val="FFFF00"/>
              </a:buClr>
              <a:buSzPts val="1960"/>
              <a:buFont typeface="Arial"/>
              <a:buChar char="•"/>
            </a:pPr>
            <a:r>
              <a:rPr b="0" i="0" lang="en-US" sz="1960" u="none" cap="none" strike="noStrike">
                <a:solidFill>
                  <a:srgbClr val="FFFF00"/>
                </a:solidFill>
                <a:latin typeface="Calibri"/>
                <a:ea typeface="Calibri"/>
                <a:cs typeface="Calibri"/>
                <a:sym typeface="Calibri"/>
              </a:rPr>
              <a:t>Death was a critical penalty. There were no checkpoints, and the player could only save a handful of times.</a:t>
            </a:r>
            <a:endParaRPr b="0" i="0" sz="1400" u="none" cap="none" strike="noStrike">
              <a:solidFill>
                <a:srgbClr val="000000"/>
              </a:solidFill>
              <a:latin typeface="Arial"/>
              <a:ea typeface="Arial"/>
              <a:cs typeface="Arial"/>
              <a:sym typeface="Arial"/>
            </a:endParaRPr>
          </a:p>
          <a:p>
            <a:pPr indent="-104140" lvl="0" marL="228600" marR="0" rtl="0" algn="l">
              <a:lnSpc>
                <a:spcPct val="70000"/>
              </a:lnSpc>
              <a:spcBef>
                <a:spcPts val="1000"/>
              </a:spcBef>
              <a:spcAft>
                <a:spcPts val="0"/>
              </a:spcAft>
              <a:buClr>
                <a:schemeClr val="dk1"/>
              </a:buClr>
              <a:buSzPts val="1960"/>
              <a:buFont typeface="Arial"/>
              <a:buNone/>
            </a:pPr>
            <a:r>
              <a:t/>
            </a:r>
            <a:endParaRPr b="0" i="0" sz="1960" u="none" cap="none" strike="noStrike">
              <a:solidFill>
                <a:srgbClr val="FFFF00"/>
              </a:solidFill>
              <a:latin typeface="Calibri"/>
              <a:ea typeface="Calibri"/>
              <a:cs typeface="Calibri"/>
              <a:sym typeface="Calibri"/>
            </a:endParaRPr>
          </a:p>
          <a:p>
            <a:pPr indent="-228600" lvl="0" marL="228600" marR="0" rtl="0" algn="l">
              <a:lnSpc>
                <a:spcPct val="70000"/>
              </a:lnSpc>
              <a:spcBef>
                <a:spcPts val="1000"/>
              </a:spcBef>
              <a:spcAft>
                <a:spcPts val="0"/>
              </a:spcAft>
              <a:buClr>
                <a:srgbClr val="FFFF00"/>
              </a:buClr>
              <a:buSzPts val="1960"/>
              <a:buFont typeface="Arial"/>
              <a:buChar char="•"/>
            </a:pPr>
            <a:r>
              <a:rPr b="0" i="0" lang="en-US" sz="1960" u="none" cap="none" strike="noStrike">
                <a:solidFill>
                  <a:srgbClr val="FFFF00"/>
                </a:solidFill>
                <a:latin typeface="Calibri"/>
                <a:ea typeface="Calibri"/>
                <a:cs typeface="Calibri"/>
                <a:sym typeface="Calibri"/>
              </a:rPr>
              <a:t>Enemy encounters were frightening because game would provide the player with barely enough resources to survive. </a:t>
            </a:r>
            <a:endParaRPr b="0" i="0" sz="1400" u="none" cap="none" strike="noStrike">
              <a:solidFill>
                <a:srgbClr val="000000"/>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960"/>
              <a:buFont typeface="Arial"/>
              <a:buNone/>
            </a:pPr>
            <a:r>
              <a:t/>
            </a:r>
            <a:endParaRPr b="0" i="0" sz="1960" u="none" cap="none" strike="noStrike">
              <a:solidFill>
                <a:srgbClr val="FFFF00"/>
              </a:solidFill>
              <a:latin typeface="Calibri"/>
              <a:ea typeface="Calibri"/>
              <a:cs typeface="Calibri"/>
              <a:sym typeface="Calibri"/>
            </a:endParaRPr>
          </a:p>
          <a:p>
            <a:pPr indent="-228600" lvl="0" marL="228600" marR="0" rtl="0" algn="l">
              <a:lnSpc>
                <a:spcPct val="70000"/>
              </a:lnSpc>
              <a:spcBef>
                <a:spcPts val="1000"/>
              </a:spcBef>
              <a:spcAft>
                <a:spcPts val="0"/>
              </a:spcAft>
              <a:buClr>
                <a:srgbClr val="FFFF00"/>
              </a:buClr>
              <a:buSzPts val="1960"/>
              <a:buFont typeface="Arial"/>
              <a:buChar char="•"/>
            </a:pPr>
            <a:r>
              <a:rPr b="0" i="0" lang="en-US" sz="1960" u="none" cap="none" strike="noStrike">
                <a:solidFill>
                  <a:srgbClr val="FFFF00"/>
                </a:solidFill>
                <a:latin typeface="Calibri"/>
                <a:ea typeface="Calibri"/>
                <a:cs typeface="Calibri"/>
                <a:sym typeface="Calibri"/>
              </a:rPr>
              <a:t>Landing a critical attack on an enemy was a result of probability as opposed to precision and finesse. </a:t>
            </a:r>
            <a:endParaRPr b="0" i="0" sz="1400" u="none" cap="none" strike="noStrike">
              <a:solidFill>
                <a:srgbClr val="000000"/>
              </a:solidFill>
              <a:latin typeface="Arial"/>
              <a:ea typeface="Arial"/>
              <a:cs typeface="Arial"/>
              <a:sym typeface="Arial"/>
            </a:endParaRPr>
          </a:p>
          <a:p>
            <a:pPr indent="-104140" lvl="0" marL="228600" marR="0" rtl="0" algn="l">
              <a:lnSpc>
                <a:spcPct val="70000"/>
              </a:lnSpc>
              <a:spcBef>
                <a:spcPts val="1000"/>
              </a:spcBef>
              <a:spcAft>
                <a:spcPts val="0"/>
              </a:spcAft>
              <a:buClr>
                <a:schemeClr val="dk1"/>
              </a:buClr>
              <a:buSzPts val="1960"/>
              <a:buFont typeface="Arial"/>
              <a:buNone/>
            </a:pPr>
            <a:r>
              <a:t/>
            </a:r>
            <a:endParaRPr b="0" i="0" sz="1960" u="none" cap="none" strike="noStrike">
              <a:solidFill>
                <a:srgbClr val="FFFF00"/>
              </a:solidFill>
              <a:latin typeface="Calibri"/>
              <a:ea typeface="Calibri"/>
              <a:cs typeface="Calibri"/>
              <a:sym typeface="Calibri"/>
            </a:endParaRPr>
          </a:p>
          <a:p>
            <a:pPr indent="-228600" lvl="0" marL="228600" marR="0" rtl="0" algn="l">
              <a:lnSpc>
                <a:spcPct val="70000"/>
              </a:lnSpc>
              <a:spcBef>
                <a:spcPts val="1000"/>
              </a:spcBef>
              <a:spcAft>
                <a:spcPts val="0"/>
              </a:spcAft>
              <a:buClr>
                <a:srgbClr val="FFFF00"/>
              </a:buClr>
              <a:buSzPts val="1960"/>
              <a:buFont typeface="Arial"/>
              <a:buChar char="•"/>
            </a:pPr>
            <a:r>
              <a:rPr b="0" i="0" lang="en-US" sz="1960" u="none" cap="none" strike="noStrike">
                <a:solidFill>
                  <a:srgbClr val="FFFF00"/>
                </a:solidFill>
                <a:latin typeface="Calibri"/>
                <a:ea typeface="Calibri"/>
                <a:cs typeface="Calibri"/>
                <a:sym typeface="Calibri"/>
              </a:rPr>
              <a:t>Many enemy encounters would end with running away. By the end of the game, the player would have only killed a few dozen enemies.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25"/>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95" name="Google Shape;195;p25"/>
          <p:cNvSpPr txBox="1"/>
          <p:nvPr>
            <p:ph type="title"/>
          </p:nvPr>
        </p:nvSpPr>
        <p:spPr>
          <a:xfrm>
            <a:off x="314324" y="-768350"/>
            <a:ext cx="7591425"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3.2 – Action, Guns and Shooting Mechanics</a:t>
            </a:r>
            <a:endParaRPr sz="3200">
              <a:solidFill>
                <a:srgbClr val="FFFF00"/>
              </a:solidFill>
            </a:endParaRPr>
          </a:p>
        </p:txBody>
      </p:sp>
      <p:sp>
        <p:nvSpPr>
          <p:cNvPr descr="Image result for resident evil 4 aim" id="196" name="Google Shape;196;p2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ellaSisters" id="197" name="Google Shape;197;p25"/>
          <p:cNvPicPr preferRelativeResize="0"/>
          <p:nvPr/>
        </p:nvPicPr>
        <p:blipFill rotWithShape="1">
          <a:blip r:embed="rId4">
            <a:alphaModFix/>
          </a:blip>
          <a:srcRect b="0" l="0" r="0" t="0"/>
          <a:stretch/>
        </p:blipFill>
        <p:spPr>
          <a:xfrm>
            <a:off x="10274300" y="-1307492"/>
            <a:ext cx="1992849" cy="2158921"/>
          </a:xfrm>
          <a:prstGeom prst="rect">
            <a:avLst/>
          </a:prstGeom>
          <a:noFill/>
          <a:ln>
            <a:noFill/>
          </a:ln>
        </p:spPr>
      </p:pic>
      <p:pic>
        <p:nvPicPr>
          <p:cNvPr descr="Jj" id="198" name="Google Shape;198;p25"/>
          <p:cNvPicPr preferRelativeResize="0"/>
          <p:nvPr/>
        </p:nvPicPr>
        <p:blipFill rotWithShape="1">
          <a:blip r:embed="rId5">
            <a:alphaModFix/>
          </a:blip>
          <a:srcRect b="0" l="0" r="0" t="0"/>
          <a:stretch/>
        </p:blipFill>
        <p:spPr>
          <a:xfrm>
            <a:off x="9772650" y="2735855"/>
            <a:ext cx="3181350" cy="2392377"/>
          </a:xfrm>
          <a:prstGeom prst="rect">
            <a:avLst/>
          </a:prstGeom>
          <a:noFill/>
          <a:ln>
            <a:noFill/>
          </a:ln>
        </p:spPr>
      </p:pic>
      <p:pic>
        <p:nvPicPr>
          <p:cNvPr descr="Regenerator" id="199" name="Google Shape;199;p25"/>
          <p:cNvPicPr preferRelativeResize="0"/>
          <p:nvPr/>
        </p:nvPicPr>
        <p:blipFill rotWithShape="1">
          <a:blip r:embed="rId6">
            <a:alphaModFix/>
          </a:blip>
          <a:srcRect b="0" l="0" r="0" t="0"/>
          <a:stretch/>
        </p:blipFill>
        <p:spPr>
          <a:xfrm>
            <a:off x="9690100" y="5040409"/>
            <a:ext cx="2501900" cy="1876426"/>
          </a:xfrm>
          <a:prstGeom prst="rect">
            <a:avLst/>
          </a:prstGeom>
          <a:noFill/>
          <a:ln>
            <a:noFill/>
          </a:ln>
        </p:spPr>
      </p:pic>
      <p:pic>
        <p:nvPicPr>
          <p:cNvPr descr="Iron-maiden-re4" id="200" name="Google Shape;200;p25"/>
          <p:cNvPicPr preferRelativeResize="0"/>
          <p:nvPr/>
        </p:nvPicPr>
        <p:blipFill rotWithShape="1">
          <a:blip r:embed="rId7">
            <a:alphaModFix/>
          </a:blip>
          <a:srcRect b="0" l="0" r="0" t="0"/>
          <a:stretch/>
        </p:blipFill>
        <p:spPr>
          <a:xfrm>
            <a:off x="8667750" y="-1286373"/>
            <a:ext cx="1714500" cy="2447926"/>
          </a:xfrm>
          <a:prstGeom prst="rect">
            <a:avLst/>
          </a:prstGeom>
          <a:noFill/>
          <a:ln>
            <a:noFill/>
          </a:ln>
        </p:spPr>
      </p:pic>
      <p:pic>
        <p:nvPicPr>
          <p:cNvPr descr="Xxxxxxxxxxxxxxxxxxxxxxxxxxxxxxx" id="201" name="Google Shape;201;p25"/>
          <p:cNvPicPr preferRelativeResize="0"/>
          <p:nvPr/>
        </p:nvPicPr>
        <p:blipFill rotWithShape="1">
          <a:blip r:embed="rId8">
            <a:alphaModFix/>
          </a:blip>
          <a:srcRect b="0" l="0" r="0" t="0"/>
          <a:stretch/>
        </p:blipFill>
        <p:spPr>
          <a:xfrm>
            <a:off x="10290175" y="590053"/>
            <a:ext cx="2143125" cy="2143125"/>
          </a:xfrm>
          <a:prstGeom prst="rect">
            <a:avLst/>
          </a:prstGeom>
          <a:noFill/>
          <a:ln>
            <a:noFill/>
          </a:ln>
        </p:spPr>
      </p:pic>
      <p:pic>
        <p:nvPicPr>
          <p:cNvPr descr="El Gigante (Resident Evil)" id="202" name="Google Shape;202;p25"/>
          <p:cNvPicPr preferRelativeResize="0"/>
          <p:nvPr/>
        </p:nvPicPr>
        <p:blipFill rotWithShape="1">
          <a:blip r:embed="rId9">
            <a:alphaModFix/>
          </a:blip>
          <a:srcRect b="0" l="0" r="0" t="0"/>
          <a:stretch/>
        </p:blipFill>
        <p:spPr>
          <a:xfrm>
            <a:off x="8294687" y="1123452"/>
            <a:ext cx="2014041" cy="2014041"/>
          </a:xfrm>
          <a:prstGeom prst="rect">
            <a:avLst/>
          </a:prstGeom>
          <a:noFill/>
          <a:ln>
            <a:noFill/>
          </a:ln>
        </p:spPr>
      </p:pic>
      <p:pic>
        <p:nvPicPr>
          <p:cNvPr descr="Del Lago" id="203" name="Google Shape;203;p25"/>
          <p:cNvPicPr preferRelativeResize="0"/>
          <p:nvPr/>
        </p:nvPicPr>
        <p:blipFill rotWithShape="1">
          <a:blip r:embed="rId10">
            <a:alphaModFix/>
          </a:blip>
          <a:srcRect b="0" l="0" r="0" t="0"/>
          <a:stretch/>
        </p:blipFill>
        <p:spPr>
          <a:xfrm>
            <a:off x="8515350" y="3064468"/>
            <a:ext cx="1800225" cy="2400301"/>
          </a:xfrm>
          <a:prstGeom prst="rect">
            <a:avLst/>
          </a:prstGeom>
          <a:noFill/>
          <a:ln>
            <a:noFill/>
          </a:ln>
        </p:spPr>
      </p:pic>
      <p:pic>
        <p:nvPicPr>
          <p:cNvPr descr="Novistador" id="204" name="Google Shape;204;p25"/>
          <p:cNvPicPr preferRelativeResize="0"/>
          <p:nvPr/>
        </p:nvPicPr>
        <p:blipFill rotWithShape="1">
          <a:blip r:embed="rId11">
            <a:alphaModFix/>
          </a:blip>
          <a:srcRect b="0" l="0" r="0" t="0"/>
          <a:stretch/>
        </p:blipFill>
        <p:spPr>
          <a:xfrm>
            <a:off x="8708231" y="5196480"/>
            <a:ext cx="1714500" cy="1714500"/>
          </a:xfrm>
          <a:prstGeom prst="rect">
            <a:avLst/>
          </a:prstGeom>
          <a:noFill/>
          <a:ln>
            <a:noFill/>
          </a:ln>
        </p:spPr>
      </p:pic>
      <p:sp>
        <p:nvSpPr>
          <p:cNvPr id="205" name="Google Shape;205;p25"/>
          <p:cNvSpPr txBox="1"/>
          <p:nvPr/>
        </p:nvSpPr>
        <p:spPr>
          <a:xfrm>
            <a:off x="200025" y="557213"/>
            <a:ext cx="7987506" cy="4691062"/>
          </a:xfrm>
          <a:prstGeom prst="rect">
            <a:avLst/>
          </a:prstGeom>
          <a:noFill/>
          <a:ln>
            <a:noFill/>
          </a:ln>
        </p:spPr>
        <p:txBody>
          <a:bodyPr anchorCtr="0" anchor="t" bIns="45700" lIns="91425" spcFirstLastPara="1" rIns="91425" wrap="square" tIns="45700">
            <a:noAutofit/>
          </a:bodyPr>
          <a:lstStyle/>
          <a:p>
            <a:pPr indent="0" lvl="1" marL="457200" marR="0" rtl="0" algn="l">
              <a:lnSpc>
                <a:spcPct val="90000"/>
              </a:lnSpc>
              <a:spcBef>
                <a:spcPts val="0"/>
              </a:spcBef>
              <a:spcAft>
                <a:spcPts val="0"/>
              </a:spcAft>
              <a:buClr>
                <a:schemeClr val="dk1"/>
              </a:buClr>
              <a:buSzPts val="2400"/>
              <a:buFont typeface="Arial"/>
              <a:buNone/>
            </a:pPr>
            <a:r>
              <a:t/>
            </a:r>
            <a:endParaRPr b="0" i="0" sz="2400" u="none" cap="none" strike="noStrike">
              <a:solidFill>
                <a:srgbClr val="FFFF00"/>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rgbClr val="FFFF00"/>
              </a:solidFill>
              <a:latin typeface="Calibri"/>
              <a:ea typeface="Calibri"/>
              <a:cs typeface="Calibri"/>
              <a:sym typeface="Calibri"/>
            </a:endParaRPr>
          </a:p>
        </p:txBody>
      </p:sp>
      <p:sp>
        <p:nvSpPr>
          <p:cNvPr id="206" name="Google Shape;206;p25"/>
          <p:cNvSpPr txBox="1"/>
          <p:nvPr/>
        </p:nvSpPr>
        <p:spPr>
          <a:xfrm>
            <a:off x="200025" y="557212"/>
            <a:ext cx="7987506" cy="5678487"/>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Resident Evil 4 replaced puzzle solving and escapism with action and shootouts.</a:t>
            </a:r>
            <a:endParaRPr b="0" i="0" sz="1400" u="none" cap="none" strike="noStrike">
              <a:solidFill>
                <a:srgbClr val="000000"/>
              </a:solidFill>
              <a:latin typeface="Arial"/>
              <a:ea typeface="Arial"/>
              <a:cs typeface="Arial"/>
              <a:sym typeface="Arial"/>
            </a:endParaRPr>
          </a:p>
          <a:p>
            <a:pPr indent="-228600" lvl="0" marL="228600" marR="0" rtl="0" algn="l">
              <a:lnSpc>
                <a:spcPct val="8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Death as a penalty was reduced due to the introduction of auto-checkpoints (and enemy feedback loops)</a:t>
            </a:r>
            <a:endParaRPr b="0" i="0" sz="1400" u="none" cap="none" strike="noStrike">
              <a:solidFill>
                <a:srgbClr val="000000"/>
              </a:solidFill>
              <a:latin typeface="Arial"/>
              <a:ea typeface="Arial"/>
              <a:cs typeface="Arial"/>
              <a:sym typeface="Arial"/>
            </a:endParaRPr>
          </a:p>
          <a:p>
            <a:pPr indent="-228600" lvl="0" marL="228600" marR="0" rtl="0" algn="l">
              <a:lnSpc>
                <a:spcPct val="8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Tension was more frequently experienced through audio, visuals, and from the scale of enemy encounters (however there were still scenarios where the player had limited resources) </a:t>
            </a:r>
            <a:endParaRPr b="0" i="0" sz="1400" u="none" cap="none" strike="noStrike">
              <a:solidFill>
                <a:srgbClr val="000000"/>
              </a:solidFill>
              <a:latin typeface="Arial"/>
              <a:ea typeface="Arial"/>
              <a:cs typeface="Arial"/>
              <a:sym typeface="Arial"/>
            </a:endParaRPr>
          </a:p>
          <a:p>
            <a:pPr indent="-228600" lvl="0" marL="228600" marR="0" rtl="0" algn="l">
              <a:lnSpc>
                <a:spcPct val="8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The game contained over 20 different weapons and was far more generous with providing ammunition to the player.</a:t>
            </a:r>
            <a:endParaRPr b="0" i="0" sz="1400" u="none" cap="none" strike="noStrike">
              <a:solidFill>
                <a:srgbClr val="000000"/>
              </a:solidFill>
              <a:latin typeface="Arial"/>
              <a:ea typeface="Arial"/>
              <a:cs typeface="Arial"/>
              <a:sym typeface="Arial"/>
            </a:endParaRPr>
          </a:p>
          <a:p>
            <a:pPr indent="-228600" lvl="0" marL="228600" marR="0" rtl="0" algn="l">
              <a:lnSpc>
                <a:spcPct val="8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The change in camera allowed for more controlled precision shooting and well-placed shots.</a:t>
            </a:r>
            <a:endParaRPr b="0" i="0" sz="1400" u="none" cap="none" strike="noStrike">
              <a:solidFill>
                <a:srgbClr val="000000"/>
              </a:solidFill>
              <a:latin typeface="Arial"/>
              <a:ea typeface="Arial"/>
              <a:cs typeface="Arial"/>
              <a:sym typeface="Arial"/>
            </a:endParaRPr>
          </a:p>
          <a:p>
            <a:pPr indent="-228600" lvl="0" marL="228600" marR="0" rtl="0" algn="l">
              <a:lnSpc>
                <a:spcPct val="8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By the end of the game, the player has killed hundreds of enemies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6"/>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212" name="Google Shape;212;p26"/>
          <p:cNvSpPr txBox="1"/>
          <p:nvPr>
            <p:ph type="title"/>
          </p:nvPr>
        </p:nvSpPr>
        <p:spPr>
          <a:xfrm>
            <a:off x="314325" y="-768350"/>
            <a:ext cx="721995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3.3 – The Merchant</a:t>
            </a:r>
            <a:endParaRPr sz="3200">
              <a:solidFill>
                <a:srgbClr val="FFFF00"/>
              </a:solidFill>
            </a:endParaRPr>
          </a:p>
        </p:txBody>
      </p:sp>
      <p:sp>
        <p:nvSpPr>
          <p:cNvPr descr="Image result for resident evil 4 aim" id="213" name="Google Shape;213;p2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ellaSisters" id="214" name="Google Shape;214;p26"/>
          <p:cNvPicPr preferRelativeResize="0"/>
          <p:nvPr/>
        </p:nvPicPr>
        <p:blipFill rotWithShape="1">
          <a:blip r:embed="rId4">
            <a:alphaModFix/>
          </a:blip>
          <a:srcRect b="0" l="0" r="0" t="0"/>
          <a:stretch/>
        </p:blipFill>
        <p:spPr>
          <a:xfrm>
            <a:off x="10274300" y="-1307492"/>
            <a:ext cx="1992849" cy="2158921"/>
          </a:xfrm>
          <a:prstGeom prst="rect">
            <a:avLst/>
          </a:prstGeom>
          <a:noFill/>
          <a:ln>
            <a:noFill/>
          </a:ln>
        </p:spPr>
      </p:pic>
      <p:pic>
        <p:nvPicPr>
          <p:cNvPr descr="Jj" id="215" name="Google Shape;215;p26"/>
          <p:cNvPicPr preferRelativeResize="0"/>
          <p:nvPr/>
        </p:nvPicPr>
        <p:blipFill rotWithShape="1">
          <a:blip r:embed="rId5">
            <a:alphaModFix/>
          </a:blip>
          <a:srcRect b="0" l="0" r="0" t="0"/>
          <a:stretch/>
        </p:blipFill>
        <p:spPr>
          <a:xfrm>
            <a:off x="9772650" y="2735855"/>
            <a:ext cx="3181350" cy="2392377"/>
          </a:xfrm>
          <a:prstGeom prst="rect">
            <a:avLst/>
          </a:prstGeom>
          <a:noFill/>
          <a:ln>
            <a:noFill/>
          </a:ln>
        </p:spPr>
      </p:pic>
      <p:pic>
        <p:nvPicPr>
          <p:cNvPr descr="Regenerator" id="216" name="Google Shape;216;p26"/>
          <p:cNvPicPr preferRelativeResize="0"/>
          <p:nvPr/>
        </p:nvPicPr>
        <p:blipFill rotWithShape="1">
          <a:blip r:embed="rId6">
            <a:alphaModFix/>
          </a:blip>
          <a:srcRect b="0" l="0" r="0" t="0"/>
          <a:stretch/>
        </p:blipFill>
        <p:spPr>
          <a:xfrm>
            <a:off x="9690100" y="5040409"/>
            <a:ext cx="2501900" cy="1876426"/>
          </a:xfrm>
          <a:prstGeom prst="rect">
            <a:avLst/>
          </a:prstGeom>
          <a:noFill/>
          <a:ln>
            <a:noFill/>
          </a:ln>
        </p:spPr>
      </p:pic>
      <p:pic>
        <p:nvPicPr>
          <p:cNvPr descr="Iron-maiden-re4" id="217" name="Google Shape;217;p26"/>
          <p:cNvPicPr preferRelativeResize="0"/>
          <p:nvPr/>
        </p:nvPicPr>
        <p:blipFill rotWithShape="1">
          <a:blip r:embed="rId7">
            <a:alphaModFix/>
          </a:blip>
          <a:srcRect b="0" l="0" r="0" t="0"/>
          <a:stretch/>
        </p:blipFill>
        <p:spPr>
          <a:xfrm>
            <a:off x="8667750" y="-1286373"/>
            <a:ext cx="1714500" cy="2447926"/>
          </a:xfrm>
          <a:prstGeom prst="rect">
            <a:avLst/>
          </a:prstGeom>
          <a:noFill/>
          <a:ln>
            <a:noFill/>
          </a:ln>
        </p:spPr>
      </p:pic>
      <p:pic>
        <p:nvPicPr>
          <p:cNvPr descr="Xxxxxxxxxxxxxxxxxxxxxxxxxxxxxxx" id="218" name="Google Shape;218;p26"/>
          <p:cNvPicPr preferRelativeResize="0"/>
          <p:nvPr/>
        </p:nvPicPr>
        <p:blipFill rotWithShape="1">
          <a:blip r:embed="rId8">
            <a:alphaModFix/>
          </a:blip>
          <a:srcRect b="0" l="0" r="0" t="0"/>
          <a:stretch/>
        </p:blipFill>
        <p:spPr>
          <a:xfrm>
            <a:off x="10290175" y="590053"/>
            <a:ext cx="2143125" cy="2143125"/>
          </a:xfrm>
          <a:prstGeom prst="rect">
            <a:avLst/>
          </a:prstGeom>
          <a:noFill/>
          <a:ln>
            <a:noFill/>
          </a:ln>
        </p:spPr>
      </p:pic>
      <p:pic>
        <p:nvPicPr>
          <p:cNvPr descr="El Gigante (Resident Evil)" id="219" name="Google Shape;219;p26"/>
          <p:cNvPicPr preferRelativeResize="0"/>
          <p:nvPr/>
        </p:nvPicPr>
        <p:blipFill rotWithShape="1">
          <a:blip r:embed="rId9">
            <a:alphaModFix/>
          </a:blip>
          <a:srcRect b="0" l="0" r="0" t="0"/>
          <a:stretch/>
        </p:blipFill>
        <p:spPr>
          <a:xfrm>
            <a:off x="8294687" y="1123452"/>
            <a:ext cx="2014041" cy="2014041"/>
          </a:xfrm>
          <a:prstGeom prst="rect">
            <a:avLst/>
          </a:prstGeom>
          <a:noFill/>
          <a:ln>
            <a:noFill/>
          </a:ln>
        </p:spPr>
      </p:pic>
      <p:pic>
        <p:nvPicPr>
          <p:cNvPr descr="Del Lago" id="220" name="Google Shape;220;p26"/>
          <p:cNvPicPr preferRelativeResize="0"/>
          <p:nvPr/>
        </p:nvPicPr>
        <p:blipFill rotWithShape="1">
          <a:blip r:embed="rId10">
            <a:alphaModFix/>
          </a:blip>
          <a:srcRect b="0" l="0" r="0" t="0"/>
          <a:stretch/>
        </p:blipFill>
        <p:spPr>
          <a:xfrm>
            <a:off x="8515350" y="3064468"/>
            <a:ext cx="1800225" cy="2400301"/>
          </a:xfrm>
          <a:prstGeom prst="rect">
            <a:avLst/>
          </a:prstGeom>
          <a:noFill/>
          <a:ln>
            <a:noFill/>
          </a:ln>
        </p:spPr>
      </p:pic>
      <p:pic>
        <p:nvPicPr>
          <p:cNvPr descr="Novistador" id="221" name="Google Shape;221;p26"/>
          <p:cNvPicPr preferRelativeResize="0"/>
          <p:nvPr/>
        </p:nvPicPr>
        <p:blipFill rotWithShape="1">
          <a:blip r:embed="rId11">
            <a:alphaModFix/>
          </a:blip>
          <a:srcRect b="0" l="0" r="0" t="0"/>
          <a:stretch/>
        </p:blipFill>
        <p:spPr>
          <a:xfrm>
            <a:off x="8708231" y="5196480"/>
            <a:ext cx="1714500" cy="1714500"/>
          </a:xfrm>
          <a:prstGeom prst="rect">
            <a:avLst/>
          </a:prstGeom>
          <a:noFill/>
          <a:ln>
            <a:noFill/>
          </a:ln>
        </p:spPr>
      </p:pic>
      <p:sp>
        <p:nvSpPr>
          <p:cNvPr id="222" name="Google Shape;222;p26"/>
          <p:cNvSpPr txBox="1"/>
          <p:nvPr/>
        </p:nvSpPr>
        <p:spPr>
          <a:xfrm>
            <a:off x="200025" y="557213"/>
            <a:ext cx="7987506" cy="469106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rgbClr val="FFFF00"/>
              </a:buClr>
              <a:buSzPts val="2800"/>
              <a:buFont typeface="Arial"/>
              <a:buChar char="•"/>
            </a:pPr>
            <a:r>
              <a:rPr b="0" i="0" lang="en-US" sz="2800" u="none" cap="none" strike="noStrike">
                <a:solidFill>
                  <a:srgbClr val="FFFF00"/>
                </a:solidFill>
                <a:latin typeface="Calibri"/>
                <a:ea typeface="Calibri"/>
                <a:cs typeface="Calibri"/>
                <a:sym typeface="Calibri"/>
              </a:rPr>
              <a:t>RE4 was the first game in the series to introduce currency and weapons upgrades. </a:t>
            </a:r>
            <a:endParaRPr b="0" i="0" sz="2800" u="none" cap="none" strike="noStrike">
              <a:solidFill>
                <a:srgbClr val="FFFF00"/>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800"/>
              <a:buFont typeface="Arial"/>
              <a:buNone/>
            </a:pPr>
            <a:r>
              <a:t/>
            </a:r>
            <a:endParaRPr b="0" i="0" sz="2800" u="none" cap="none" strike="noStrike">
              <a:solidFill>
                <a:srgbClr val="FFFF00"/>
              </a:solidFill>
              <a:latin typeface="Calibri"/>
              <a:ea typeface="Calibri"/>
              <a:cs typeface="Calibri"/>
              <a:sym typeface="Calibri"/>
            </a:endParaRPr>
          </a:p>
          <a:p>
            <a:pPr indent="-228600" lvl="0" marL="228600" marR="0" rtl="0" algn="l">
              <a:lnSpc>
                <a:spcPct val="90000"/>
              </a:lnSpc>
              <a:spcBef>
                <a:spcPts val="0"/>
              </a:spcBef>
              <a:spcAft>
                <a:spcPts val="0"/>
              </a:spcAft>
              <a:buClr>
                <a:srgbClr val="FFFF00"/>
              </a:buClr>
              <a:buSzPts val="2800"/>
              <a:buFont typeface="Arial"/>
              <a:buChar char="•"/>
            </a:pPr>
            <a:r>
              <a:rPr b="0" i="0" lang="en-US" sz="2800" u="none" cap="none" strike="noStrike">
                <a:solidFill>
                  <a:srgbClr val="FFFF00"/>
                </a:solidFill>
                <a:latin typeface="Calibri"/>
                <a:ea typeface="Calibri"/>
                <a:cs typeface="Calibri"/>
                <a:sym typeface="Calibri"/>
              </a:rPr>
              <a:t>This was done in the form of The Merchant: a mysterious man who would be readily available to do buisness with Leon at certain points in the game.</a:t>
            </a:r>
            <a:endParaRPr b="0" i="0" sz="2800" u="none" cap="none" strike="noStrike">
              <a:solidFill>
                <a:srgbClr val="FFFF00"/>
              </a:solidFill>
              <a:latin typeface="Calibri"/>
              <a:ea typeface="Calibri"/>
              <a:cs typeface="Calibri"/>
              <a:sym typeface="Calibri"/>
            </a:endParaRPr>
          </a:p>
          <a:p>
            <a:pPr indent="-228600" lvl="0" marL="228600" marR="0" rtl="0" algn="l">
              <a:lnSpc>
                <a:spcPct val="90000"/>
              </a:lnSpc>
              <a:spcBef>
                <a:spcPts val="0"/>
              </a:spcBef>
              <a:spcAft>
                <a:spcPts val="0"/>
              </a:spcAft>
              <a:buClr>
                <a:srgbClr val="FFFF00"/>
              </a:buClr>
              <a:buSzPts val="2800"/>
              <a:buFont typeface="Arial"/>
              <a:buChar char="•"/>
            </a:pPr>
            <a:r>
              <a:t/>
            </a:r>
            <a:endParaRPr b="0" i="0" sz="2800" u="none" cap="none" strike="noStrike">
              <a:solidFill>
                <a:srgbClr val="FFFF00"/>
              </a:solidFill>
              <a:latin typeface="Calibri"/>
              <a:ea typeface="Calibri"/>
              <a:cs typeface="Calibri"/>
              <a:sym typeface="Calibri"/>
            </a:endParaRPr>
          </a:p>
          <a:p>
            <a:pPr indent="-228600" lvl="0" marL="228600" marR="0" rtl="0" algn="l">
              <a:lnSpc>
                <a:spcPct val="90000"/>
              </a:lnSpc>
              <a:spcBef>
                <a:spcPts val="0"/>
              </a:spcBef>
              <a:spcAft>
                <a:spcPts val="0"/>
              </a:spcAft>
              <a:buClr>
                <a:srgbClr val="FFFF00"/>
              </a:buClr>
              <a:buSzPts val="2800"/>
              <a:buFont typeface="Arial"/>
              <a:buChar char="•"/>
            </a:pPr>
            <a:r>
              <a:rPr b="0" i="0" lang="en-US" sz="2800" u="none" cap="none" strike="noStrike">
                <a:solidFill>
                  <a:srgbClr val="FFFF00"/>
                </a:solidFill>
                <a:latin typeface="Calibri"/>
                <a:ea typeface="Calibri"/>
                <a:cs typeface="Calibri"/>
                <a:sym typeface="Calibri"/>
              </a:rPr>
              <a:t>For the first time ever in a Resident Evil game, </a:t>
            </a:r>
            <a:endParaRPr b="0" i="0" sz="2400" u="none" cap="none" strike="noStrike">
              <a:solidFill>
                <a:srgbClr val="FFFF00"/>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rgbClr val="FFFF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